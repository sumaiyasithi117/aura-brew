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7" r:id="rId11"/>
    <p:sldId id="278" r:id="rId12"/>
    <p:sldId id="263" r:id="rId13"/>
    <p:sldId id="264" r:id="rId14"/>
    <p:sldId id="265" r:id="rId15"/>
    <p:sldId id="275" r:id="rId16"/>
    <p:sldId id="267" r:id="rId17"/>
    <p:sldId id="268" r:id="rId18"/>
    <p:sldId id="269" r:id="rId19"/>
    <p:sldId id="270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639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88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45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2BB0A-83A8-AE54-5FA8-BBD01A2C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7DD46-9E56-1BA9-E6CE-55C136D4F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AE3CC-A3A4-B983-F938-CB2533E60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38DB1-5B75-1733-3B03-27E67A733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9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425F-752B-5F3E-04D1-368537838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0290F-C794-6D3B-6C62-96BE9C275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EE312-5E53-97BF-98E9-1F112B325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10A66-4B1F-5A29-F523-B0FF7CEA7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2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8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19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64008" cy="514350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8B524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-731520"/>
            <a:ext cx="1828800" cy="1828800"/>
          </a:xfrm>
          <a:prstGeom prst="ellipse">
            <a:avLst/>
          </a:prstGeom>
          <a:solidFill>
            <a:srgbClr val="B07D6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6713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AURA BREW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2377440" cy="0"/>
          </a:xfrm>
          <a:prstGeom prst="line">
            <a:avLst/>
          </a:prstGeom>
          <a:noFill/>
          <a:ln w="12700">
            <a:solidFill>
              <a:srgbClr val="A06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139696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Experience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github.com/aaporosh/Aura-Brew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4572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9144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0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Full-Stack Mobile Application for Premium Coffee Ordering &amp; Customization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0" y="1828800"/>
            <a:ext cx="5029200" cy="0"/>
          </a:xfrm>
          <a:prstGeom prst="line">
            <a:avLst/>
          </a:prstGeom>
          <a:noFill/>
          <a:ln w="12700">
            <a:solidFill>
              <a:srgbClr val="D4B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65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965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CSE413: Mobile Application Design Lab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404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2404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Daffodil International University, Dhaka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8437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8437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Tanjir Ahmed Anik, Lecturer, Dept. of CSE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2826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32826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19,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767328"/>
            <a:ext cx="5029200" cy="0"/>
          </a:xfrm>
          <a:prstGeom prst="line">
            <a:avLst/>
          </a:prstGeom>
          <a:noFill/>
          <a:ln w="12700">
            <a:solidFill>
              <a:srgbClr val="D4BF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840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0" y="4160520"/>
            <a:ext cx="914400" cy="274320"/>
          </a:xfrm>
          <a:prstGeom prst="rect">
            <a:avLst/>
          </a:prstGeom>
          <a:solidFill>
            <a:srgbClr val="F8F4F0"/>
          </a:solidFill>
          <a:ln w="10160">
            <a:solidFill>
              <a:srgbClr val="B07D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45152" y="4160520"/>
            <a:ext cx="914400" cy="274320"/>
          </a:xfrm>
          <a:prstGeom prst="rect">
            <a:avLst/>
          </a:prstGeom>
          <a:solidFill>
            <a:srgbClr val="F8F4F0"/>
          </a:solidFill>
          <a:ln w="10160">
            <a:solidFill>
              <a:srgbClr val="B07D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32704" y="4160520"/>
            <a:ext cx="914400" cy="274320"/>
          </a:xfrm>
          <a:prstGeom prst="rect">
            <a:avLst/>
          </a:prstGeom>
          <a:solidFill>
            <a:srgbClr val="F8F4F0"/>
          </a:solidFill>
          <a:ln w="10160">
            <a:solidFill>
              <a:srgbClr val="B07D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32704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20256" y="4160520"/>
            <a:ext cx="914400" cy="274320"/>
          </a:xfrm>
          <a:prstGeom prst="rect">
            <a:avLst/>
          </a:prstGeom>
          <a:solidFill>
            <a:srgbClr val="F8F4F0"/>
          </a:solidFill>
          <a:ln w="10160">
            <a:solidFill>
              <a:srgbClr val="B07D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0256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07808" y="4160520"/>
            <a:ext cx="914400" cy="274320"/>
          </a:xfrm>
          <a:prstGeom prst="rect">
            <a:avLst/>
          </a:prstGeom>
          <a:solidFill>
            <a:srgbClr val="F8F4F0"/>
          </a:solidFill>
          <a:ln w="10160">
            <a:solidFill>
              <a:srgbClr val="B07D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kern="0" spc="2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CSE413 — Mobile Application Design Lab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896" y="1117249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813" y="40416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deployment config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2292" y="1117249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2DA2A48-AD2A-436B-9089-E1AA1F3D1FDE}"/>
              </a:ext>
            </a:extLst>
          </p:cNvPr>
          <p:cNvGrpSpPr/>
          <p:nvPr/>
        </p:nvGrpSpPr>
        <p:grpSpPr>
          <a:xfrm>
            <a:off x="3503041" y="2816449"/>
            <a:ext cx="2202625" cy="1609344"/>
            <a:chOff x="3246120" y="3090672"/>
            <a:chExt cx="2514600" cy="1609344"/>
          </a:xfrm>
        </p:grpSpPr>
        <p:sp>
          <p:nvSpPr>
            <p:cNvPr id="28" name="Text 26"/>
            <p:cNvSpPr/>
            <p:nvPr/>
          </p:nvSpPr>
          <p:spPr>
            <a:xfrm>
              <a:off x="3246120" y="3090672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Products, Cart, Stores, Banners apps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246120" y="3419856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Home, Cart, Profile, Settings screens</a:t>
              </a:r>
              <a:endParaRPr lang="en-US" sz="8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246120" y="3749040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ProductProvider &amp; CartProvider</a:t>
              </a:r>
              <a:endParaRPr lang="en-US" sz="8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246120" y="4078224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 reusable Flutter widgets</a:t>
              </a:r>
              <a:endParaRPr lang="en-US" sz="8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246120" y="4407408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Admin seeding &amp; management commands</a:t>
              </a:r>
              <a:endParaRPr lang="en-US" sz="850" dirty="0"/>
            </a:p>
          </p:txBody>
        </p:sp>
      </p:grpSp>
      <p:sp>
        <p:nvSpPr>
          <p:cNvPr id="33" name="Shape 31"/>
          <p:cNvSpPr/>
          <p:nvPr/>
        </p:nvSpPr>
        <p:spPr>
          <a:xfrm>
            <a:off x="5982400" y="1110551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8C72EB7-9C31-49AD-BC20-5969B0DD3B68}"/>
              </a:ext>
            </a:extLst>
          </p:cNvPr>
          <p:cNvGrpSpPr/>
          <p:nvPr/>
        </p:nvGrpSpPr>
        <p:grpSpPr>
          <a:xfrm>
            <a:off x="6341684" y="2816449"/>
            <a:ext cx="2514600" cy="1609344"/>
            <a:chOff x="6080760" y="3090672"/>
            <a:chExt cx="2514600" cy="1609344"/>
          </a:xfrm>
        </p:grpSpPr>
        <p:sp>
          <p:nvSpPr>
            <p:cNvPr id="41" name="Text 39"/>
            <p:cNvSpPr/>
            <p:nvPr/>
          </p:nvSpPr>
          <p:spPr>
            <a:xfrm>
              <a:off x="6080760" y="3090672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A062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Orders app (place, history, reorder)</a:t>
              </a:r>
              <a:endParaRPr lang="en-US" sz="8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080760" y="3419856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A062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Feedback app (ratings, tags, suggestions)</a:t>
              </a:r>
              <a:endParaRPr lang="en-US" sz="85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080760" y="3749040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A062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History &amp; Success screens</a:t>
              </a:r>
              <a:endParaRPr lang="en-US" sz="8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080760" y="4078224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A062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Feedback screen with slider &amp; tags</a:t>
              </a:r>
              <a:endParaRPr lang="en-US" sz="85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080760" y="4407408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A062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OrderProvider with full state mgmt</a:t>
              </a:r>
              <a:endParaRPr lang="en-US" sz="850" dirty="0"/>
            </a:p>
          </p:txBody>
        </p:sp>
      </p:grpSp>
      <p:sp>
        <p:nvSpPr>
          <p:cNvPr id="46" name="Shape 44"/>
          <p:cNvSpPr/>
          <p:nvPr/>
        </p:nvSpPr>
        <p:spPr>
          <a:xfrm>
            <a:off x="0" y="4709063"/>
            <a:ext cx="9144000" cy="434437"/>
          </a:xfrm>
          <a:prstGeom prst="rect">
            <a:avLst/>
          </a:prstGeom>
          <a:solidFill>
            <a:srgbClr val="EDE0D4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81430" y="4728271"/>
            <a:ext cx="8321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 Tanjir Ahmed Anik  |  Lecturer, Department of Computer Science and Engineering, Daffodil International University</a:t>
            </a:r>
            <a:endParaRPr lang="en-US" sz="95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AB6B6C-1869-4439-88A9-9A58F20D2D3E}"/>
              </a:ext>
            </a:extLst>
          </p:cNvPr>
          <p:cNvGrpSpPr/>
          <p:nvPr/>
        </p:nvGrpSpPr>
        <p:grpSpPr>
          <a:xfrm>
            <a:off x="306896" y="1019936"/>
            <a:ext cx="8823960" cy="3038539"/>
            <a:chOff x="320040" y="1325880"/>
            <a:chExt cx="8823960" cy="3038539"/>
          </a:xfrm>
        </p:grpSpPr>
        <p:sp>
          <p:nvSpPr>
            <p:cNvPr id="8" name="Shape 6"/>
            <p:cNvSpPr/>
            <p:nvPr/>
          </p:nvSpPr>
          <p:spPr>
            <a:xfrm>
              <a:off x="320040" y="1325880"/>
              <a:ext cx="2697480" cy="548640"/>
            </a:xfrm>
            <a:prstGeom prst="rect">
              <a:avLst/>
            </a:prstGeom>
            <a:solidFill>
              <a:srgbClr val="6B3A2A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463040" y="1396746"/>
              <a:ext cx="543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999173" y="2326894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645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ID: 0242220005101814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7279" y="2636520"/>
              <a:ext cx="2690242" cy="370332"/>
            </a:xfrm>
            <a:prstGeom prst="rect">
              <a:avLst/>
            </a:prstGeom>
            <a:solidFill>
              <a:srgbClr val="F2EBE3"/>
            </a:solidFill>
            <a:ln w="10160">
              <a:noFill/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94360" y="2668905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Login, Authentication &amp; Onboarding Flow</a:t>
              </a:r>
              <a:endParaRPr lang="en-US" sz="8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79450" y="3090672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 User model &amp; PIN auth</a:t>
              </a:r>
              <a:endParaRPr lang="en-US" sz="8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73100" y="3419856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Serializers, Views, URL routing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71957" y="3749040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Splash, Login, Signup screens</a:t>
              </a:r>
              <a:endParaRPr lang="en-US" sz="8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85800" y="4071811"/>
              <a:ext cx="2514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Auth Provider &amp; API client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121660" y="1350518"/>
              <a:ext cx="2697480" cy="548640"/>
            </a:xfrm>
            <a:prstGeom prst="rect">
              <a:avLst/>
            </a:prstGeom>
            <a:solidFill>
              <a:srgbClr val="8B524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238688" y="1386808"/>
              <a:ext cx="52946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2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717925" y="1954530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Sohi Bilkis Binte Yer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880231" y="2356866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645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ID: 0242220005101917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121660" y="2647886"/>
              <a:ext cx="2691256" cy="395478"/>
            </a:xfrm>
            <a:prstGeom prst="rect">
              <a:avLst/>
            </a:prstGeom>
            <a:solidFill>
              <a:srgbClr val="F2EBE3"/>
            </a:solidFill>
            <a:ln w="10160">
              <a:noFill/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602736" y="2705228"/>
              <a:ext cx="24688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Menu, Cart, Profile &amp; Home Pages</a:t>
              </a:r>
              <a:endParaRPr lang="en-US" sz="8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989320" y="1325880"/>
              <a:ext cx="2697480" cy="548640"/>
            </a:xfrm>
            <a:prstGeom prst="rect">
              <a:avLst/>
            </a:prstGeom>
            <a:solidFill>
              <a:srgbClr val="A0622A"/>
            </a:solidFill>
            <a:ln w="12700">
              <a:noFill/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7088886" y="1392047"/>
              <a:ext cx="62179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2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00100" y="1970532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Md Abir Ahmed Porosh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629400" y="2363724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645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ID: 0242220005101915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001768" y="2608199"/>
              <a:ext cx="2685031" cy="424625"/>
            </a:xfrm>
            <a:prstGeom prst="rect">
              <a:avLst/>
            </a:prstGeom>
            <a:solidFill>
              <a:srgbClr val="F2EBE3"/>
            </a:solidFill>
            <a:ln w="10160">
              <a:noFill/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6446520" y="2673985"/>
              <a:ext cx="18719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A062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Processing &amp; Feedback System</a:t>
              </a:r>
              <a:endParaRPr lang="en-US" sz="8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304788" y="1970786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Most. Sumaiya Akter Sithi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9902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Brew — Full-Stack Coffee Ordering Application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0450" y="880364"/>
            <a:ext cx="748652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Brew is a comprehensive, production-grade full-stack mobile application built with Flutter (cross-platform frontend) and Django REST Framework (backend API). It delivers a seamless premium coffee ordering experience — from browsing and customization to cart management, order placement, rewards, and feedback.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8321040" cy="0"/>
          </a:xfrm>
          <a:prstGeom prst="line">
            <a:avLst/>
          </a:prstGeom>
          <a:noFill/>
          <a:ln w="12700">
            <a:solidFill>
              <a:srgbClr val="D4BF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5564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55648"/>
            <a:ext cx="265176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4069" y="1920240"/>
            <a:ext cx="1220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76072" y="26517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Screens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880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UI workflow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27832" y="175564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755648"/>
            <a:ext cx="265176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7066" y="1920240"/>
            <a:ext cx="1446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392424" y="2606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2424" y="2880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RESTful, versioned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44184" y="175564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1755648"/>
            <a:ext cx="265176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8957" y="1866900"/>
            <a:ext cx="68097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208776" y="2606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08776" y="2880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3101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310128"/>
            <a:ext cx="265176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6172" y="3456432"/>
            <a:ext cx="9479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576072" y="41605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27832" y="33101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3310128"/>
            <a:ext cx="265176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60342" y="34244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3392424" y="41605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Providers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92424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pattern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44184" y="33101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44184" y="3310128"/>
            <a:ext cx="265176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7781" y="3449574"/>
            <a:ext cx="70332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6208776" y="41605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Components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08776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library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Infrastructure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4416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44168"/>
            <a:ext cx="54864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 ^3.9.2)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184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UI framework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74520"/>
            <a:ext cx="54864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202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^6.1.5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— ChangeNotifier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40487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04872"/>
            <a:ext cx="54864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505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67919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+ Poppins typography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935224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35224"/>
            <a:ext cx="54864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8094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^1.6.0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0954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communication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465576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65576"/>
            <a:ext cx="54864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1129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shimmer ^3.0.0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7398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loading animations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995928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995928"/>
            <a:ext cx="54864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4164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carousel_slider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7024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carousel on Home &amp; Tea screens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5262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526280"/>
            <a:ext cx="54864" cy="5029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7200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upload from gallery/camera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27832" y="960120"/>
            <a:ext cx="2743200" cy="384048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27832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27832" y="134416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27832" y="1344168"/>
            <a:ext cx="54864" cy="502920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138988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&gt;=5.1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64992" y="16184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27832" y="1874520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27832" y="1874520"/>
            <a:ext cx="54864" cy="502920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64992" y="19202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64992" y="214884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toolkit &gt;=3.15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27832" y="240487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27832" y="2404872"/>
            <a:ext cx="54864" cy="502920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64992" y="24505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django-jazzmin &gt;=3.0.1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64992" y="267919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admin dashboard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27832" y="2935224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27832" y="2935224"/>
            <a:ext cx="54864" cy="502920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64992" y="298094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django-cors-headers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64992" y="320954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for mobile clients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27832" y="3465576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27832" y="3465576"/>
            <a:ext cx="54864" cy="502920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64992" y="351129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&gt;=11.0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364992" y="37398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&amp; uploads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27832" y="3995928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27832" y="3995928"/>
            <a:ext cx="54864" cy="502920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64992" y="404164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&gt;=23.0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364992" y="427024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production HTTP server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27832" y="45262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27832" y="4526280"/>
            <a:ext cx="54864" cy="502920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64992" y="457200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WhiteNoise &gt;=6.8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364992" y="48006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static file serving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35624" y="960120"/>
            <a:ext cx="2743200" cy="384048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35624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135624" y="134416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35624" y="1344168"/>
            <a:ext cx="54864" cy="5029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138988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(PaaS)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72784" y="16184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 hosting + auto-deploy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135624" y="1874520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35624" y="1874520"/>
            <a:ext cx="54864" cy="5029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19202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Neon.tech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72784" y="214884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PostgreSQL database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135624" y="240487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35624" y="2404872"/>
            <a:ext cx="54864" cy="5029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72784" y="24505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272784" y="267919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media &amp; avatar storage (CDN)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135624" y="2935224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35624" y="2935224"/>
            <a:ext cx="54864" cy="5029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72784" y="298094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272784" y="320954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relational database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135624" y="3465576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35624" y="3465576"/>
            <a:ext cx="54864" cy="5029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72784" y="351129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272784" y="37398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database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135624" y="3995928"/>
            <a:ext cx="2743200" cy="502920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35624" y="3995928"/>
            <a:ext cx="54864" cy="5029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72784" y="404164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272784" y="427024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+ APK releases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135624" y="45262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35624" y="4526280"/>
            <a:ext cx="54864" cy="5029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72784" y="457200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dj-database-url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6272784" y="48006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DB connection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Client-Server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743200" cy="594360"/>
          </a:xfrm>
          <a:prstGeom prst="rect">
            <a:avLst/>
          </a:prstGeom>
          <a:solidFill>
            <a:srgbClr val="6B3A2A"/>
          </a:solidFill>
          <a:ln w="12700">
            <a:noFill/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7840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2801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Application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691640"/>
            <a:ext cx="201168" cy="201168"/>
          </a:xfrm>
          <a:prstGeom prst="rect">
            <a:avLst/>
          </a:prstGeom>
          <a:solidFill>
            <a:srgbClr val="6B3A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65506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State Management (ChangeNotifier)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313432"/>
            <a:ext cx="201168" cy="201168"/>
          </a:xfrm>
          <a:prstGeom prst="rect">
            <a:avLst/>
          </a:prstGeom>
          <a:solidFill>
            <a:srgbClr val="6B3A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13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2276856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Named Routes + MainShell Navigator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935224"/>
            <a:ext cx="201168" cy="201168"/>
          </a:xfrm>
          <a:prstGeom prst="rect">
            <a:avLst/>
          </a:prstGeom>
          <a:solidFill>
            <a:srgbClr val="6B3A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289864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IndexedStack — Preserved Tab States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557016"/>
            <a:ext cx="201168" cy="201168"/>
          </a:xfrm>
          <a:prstGeom prst="rect">
            <a:avLst/>
          </a:prstGeom>
          <a:solidFill>
            <a:srgbClr val="6B3A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3520440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Reusable Widget Components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4178808"/>
            <a:ext cx="201168" cy="201168"/>
          </a:xfrm>
          <a:prstGeom prst="rect">
            <a:avLst/>
          </a:prstGeom>
          <a:solidFill>
            <a:srgbClr val="6B3A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1788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4142232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 + Custom Theming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960120"/>
            <a:ext cx="2743200" cy="594360"/>
          </a:xfrm>
          <a:prstGeom prst="rect">
            <a:avLst/>
          </a:prstGeom>
          <a:solidFill>
            <a:srgbClr val="8B5240"/>
          </a:solidFill>
          <a:ln w="12700">
            <a:noFill/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97840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9272" y="12801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1691640"/>
            <a:ext cx="201168" cy="201168"/>
          </a:xfrm>
          <a:prstGeom prst="rect">
            <a:avLst/>
          </a:prstGeom>
          <a:solidFill>
            <a:srgbClr val="8B524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30168" y="165506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Modular Django Apps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55848" y="2313432"/>
            <a:ext cx="201168" cy="201168"/>
          </a:xfrm>
          <a:prstGeom prst="rect">
            <a:avLst/>
          </a:prstGeom>
          <a:solidFill>
            <a:srgbClr val="8B524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2313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30168" y="2276856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TokenAuthentication (DRF built-in)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55848" y="2935224"/>
            <a:ext cx="201168" cy="201168"/>
          </a:xfrm>
          <a:prstGeom prst="rect">
            <a:avLst/>
          </a:prstGeom>
          <a:solidFill>
            <a:srgbClr val="8B524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30168" y="289864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endpoints: /api/v1/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55848" y="3557016"/>
            <a:ext cx="201168" cy="201168"/>
          </a:xfrm>
          <a:prstGeom prst="rect">
            <a:avLst/>
          </a:prstGeom>
          <a:solidFill>
            <a:srgbClr val="8B524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30168" y="3520440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Multipart/form-data support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55848" y="4178808"/>
            <a:ext cx="201168" cy="201168"/>
          </a:xfrm>
          <a:prstGeom prst="rect">
            <a:avLst/>
          </a:prstGeom>
          <a:solidFill>
            <a:srgbClr val="8B524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41788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30168" y="4142232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Jazzmin Admin Dashboard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960120"/>
            <a:ext cx="2743200" cy="594360"/>
          </a:xfrm>
          <a:prstGeom prst="rect">
            <a:avLst/>
          </a:prstGeom>
          <a:solidFill>
            <a:srgbClr val="A0622A"/>
          </a:solidFill>
          <a:ln w="12700">
            <a:noFill/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97840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91072" y="12801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Cloudinary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27648" y="1691640"/>
            <a:ext cx="201168" cy="201168"/>
          </a:xfrm>
          <a:prstGeom prst="rect">
            <a:avLst/>
          </a:prstGeom>
          <a:solidFill>
            <a:srgbClr val="A062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01968" y="165506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Neon.tech Serverless PostgreSQL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27648" y="2313432"/>
            <a:ext cx="201168" cy="201168"/>
          </a:xfrm>
          <a:prstGeom prst="rect">
            <a:avLst/>
          </a:prstGeom>
          <a:solidFill>
            <a:srgbClr val="A062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7648" y="2313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01968" y="2276856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CDN (media &amp; avatars)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27648" y="2935224"/>
            <a:ext cx="201168" cy="201168"/>
          </a:xfrm>
          <a:prstGeom prst="rect">
            <a:avLst/>
          </a:prstGeom>
          <a:solidFill>
            <a:srgbClr val="A062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01968" y="289864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Database Models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27648" y="3557016"/>
            <a:ext cx="201168" cy="201168"/>
          </a:xfrm>
          <a:prstGeom prst="rect">
            <a:avLst/>
          </a:prstGeom>
          <a:solidFill>
            <a:srgbClr val="A062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01968" y="3520440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dj-database-url connection config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27648" y="4178808"/>
            <a:ext cx="201168" cy="201168"/>
          </a:xfrm>
          <a:prstGeom prst="rect">
            <a:avLst/>
          </a:prstGeom>
          <a:solidFill>
            <a:srgbClr val="A0622A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41788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01968" y="4142232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WhiteNoise static file serving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017520" y="2926080"/>
            <a:ext cx="228600" cy="0"/>
          </a:xfrm>
          <a:prstGeom prst="line">
            <a:avLst/>
          </a:prstGeom>
          <a:noFill/>
          <a:ln w="19050">
            <a:solidFill>
              <a:srgbClr val="B07D6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926080"/>
            <a:ext cx="228600" cy="0"/>
          </a:xfrm>
          <a:prstGeom prst="line">
            <a:avLst/>
          </a:prstGeom>
          <a:noFill/>
          <a:ln w="19050">
            <a:solidFill>
              <a:srgbClr val="B07D6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Capabilities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69748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1247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PIN-Based Authentication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1673352"/>
            <a:ext cx="2487168" cy="0"/>
          </a:xfrm>
          <a:prstGeom prst="line">
            <a:avLst/>
          </a:prstGeom>
          <a:noFill/>
          <a:ln w="6350">
            <a:solidFill>
              <a:srgbClr val="D4BF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76479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+ 4-digit PIN with PBKDF2 hashing. Token-based sessions for all protected endpoints. Fast and secure login flow.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60120"/>
            <a:ext cx="269748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58768" y="11247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Customization 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82696" y="1673352"/>
            <a:ext cx="2487168" cy="0"/>
          </a:xfrm>
          <a:prstGeom prst="line">
            <a:avLst/>
          </a:prstGeom>
          <a:noFill/>
          <a:ln w="6350">
            <a:solidFill>
              <a:srgbClr val="D4BF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76479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options: milk type, toppings (M2M), size, and sugar level slider (0–100%). Real-time price recalculation on every selection.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25896" y="9601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960120"/>
            <a:ext cx="269748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336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11696" y="11247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Cart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35624" y="1673352"/>
            <a:ext cx="2487168" cy="0"/>
          </a:xfrm>
          <a:prstGeom prst="line">
            <a:avLst/>
          </a:prstGeom>
          <a:noFill/>
          <a:ln w="6350">
            <a:solidFill>
              <a:srgbClr val="D4BF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176479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remove, and clear cart items. Subtotal computed as base + size + milk + toppings × quantity.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5351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53512"/>
            <a:ext cx="269748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906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3118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System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" y="3666744"/>
            <a:ext cx="2487168" cy="0"/>
          </a:xfrm>
          <a:prstGeom prst="line">
            <a:avLst/>
          </a:prstGeom>
          <a:noFill/>
          <a:ln w="6350">
            <a:solidFill>
              <a:srgbClr val="D4BF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758184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 from cart with automatic tax (8%), service fee ($0.85). Status: Pending → Preparing → Ready → Delivered.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295351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2953512"/>
            <a:ext cx="269748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0906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858768" y="3118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Membership Tiers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82696" y="3666744"/>
            <a:ext cx="2487168" cy="0"/>
          </a:xfrm>
          <a:prstGeom prst="line">
            <a:avLst/>
          </a:prstGeom>
          <a:noFill/>
          <a:ln w="6350">
            <a:solidFill>
              <a:srgbClr val="D4BF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3758184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beans (10× order total) per purchase. Automatic tier upgrades: Bronze (0) → Silver (500+) → Gold (2000+ beans).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25896" y="295351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25896" y="2953512"/>
            <a:ext cx="2697480" cy="6400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17336" y="30906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11696" y="3118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Module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35624" y="3666744"/>
            <a:ext cx="2487168" cy="0"/>
          </a:xfrm>
          <a:prstGeom prst="line">
            <a:avLst/>
          </a:prstGeom>
          <a:noFill/>
          <a:ln w="6350">
            <a:solidFill>
              <a:srgbClr val="D4BFB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35624" y="3758184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(1–5), taste satisfaction slider (0–100%), selectable tags, and free-text suggestions linked per order.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3331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741420" cy="659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INVENTORY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674" y="-9066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Fully Designed Flutter Screens</a:t>
            </a:r>
            <a:endParaRPr lang="en-US" sz="1100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E20F162-A7E7-460F-8BF4-6244CB54DB95}"/>
              </a:ext>
            </a:extLst>
          </p:cNvPr>
          <p:cNvGrpSpPr/>
          <p:nvPr/>
        </p:nvGrpSpPr>
        <p:grpSpPr>
          <a:xfrm>
            <a:off x="393699" y="923801"/>
            <a:ext cx="2000249" cy="3834898"/>
            <a:chOff x="298450" y="936501"/>
            <a:chExt cx="2000249" cy="3834898"/>
          </a:xfrm>
        </p:grpSpPr>
        <p:sp>
          <p:nvSpPr>
            <p:cNvPr id="6" name="Shape 4"/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23866" y="4407667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Splash</a:t>
              </a:r>
              <a:endParaRPr lang="en-US" sz="9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142D1B90-CEF5-4B3D-B5E4-66D9465A4C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985" b="6949"/>
            <a:stretch/>
          </p:blipFill>
          <p:spPr>
            <a:xfrm>
              <a:off x="555243" y="1282700"/>
              <a:ext cx="1508761" cy="3037840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A69E157-0EF3-44F0-9C1F-D1AEA1037B86}"/>
              </a:ext>
            </a:extLst>
          </p:cNvPr>
          <p:cNvGrpSpPr/>
          <p:nvPr/>
        </p:nvGrpSpPr>
        <p:grpSpPr>
          <a:xfrm>
            <a:off x="2528381" y="902592"/>
            <a:ext cx="2000249" cy="3927331"/>
            <a:chOff x="298450" y="936501"/>
            <a:chExt cx="2000249" cy="3927331"/>
          </a:xfrm>
        </p:grpSpPr>
        <p:sp>
          <p:nvSpPr>
            <p:cNvPr id="100" name="Shape 4">
              <a:extLst>
                <a:ext uri="{FF2B5EF4-FFF2-40B4-BE49-F238E27FC236}">
                  <a16:creationId xmlns:a16="http://schemas.microsoft.com/office/drawing/2014/main" id="{24D6366C-581D-4B5B-BAEA-6ACFBB9DDF8D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01" name="Shape 5">
              <a:extLst>
                <a:ext uri="{FF2B5EF4-FFF2-40B4-BE49-F238E27FC236}">
                  <a16:creationId xmlns:a16="http://schemas.microsoft.com/office/drawing/2014/main" id="{371EDCF6-7F77-4929-A99A-4DD75A62DADE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02" name="Shape 6">
              <a:extLst>
                <a:ext uri="{FF2B5EF4-FFF2-40B4-BE49-F238E27FC236}">
                  <a16:creationId xmlns:a16="http://schemas.microsoft.com/office/drawing/2014/main" id="{9D076934-44FA-4198-A983-61CB2B15D747}"/>
                </a:ext>
              </a:extLst>
            </p:cNvPr>
            <p:cNvSpPr/>
            <p:nvPr/>
          </p:nvSpPr>
          <p:spPr>
            <a:xfrm>
              <a:off x="396242" y="1101851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03" name="Text 8">
              <a:extLst>
                <a:ext uri="{FF2B5EF4-FFF2-40B4-BE49-F238E27FC236}">
                  <a16:creationId xmlns:a16="http://schemas.microsoft.com/office/drawing/2014/main" id="{38505B7D-2748-4254-8B49-C0AB5D23DA60}"/>
                </a:ext>
              </a:extLst>
            </p:cNvPr>
            <p:cNvSpPr/>
            <p:nvPr/>
          </p:nvSpPr>
          <p:spPr>
            <a:xfrm>
              <a:off x="437895" y="4500100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Home</a:t>
              </a:r>
              <a:endParaRPr lang="en-US" sz="950" dirty="0"/>
            </a:p>
            <a:p>
              <a:pPr marL="0" indent="0" algn="ctr">
                <a:buNone/>
              </a:pPr>
              <a:endParaRPr lang="en-US" sz="950" dirty="0"/>
            </a:p>
          </p:txBody>
        </p:sp>
        <p:sp>
          <p:nvSpPr>
            <p:cNvPr id="104" name="Text 37">
              <a:extLst>
                <a:ext uri="{FF2B5EF4-FFF2-40B4-BE49-F238E27FC236}">
                  <a16:creationId xmlns:a16="http://schemas.microsoft.com/office/drawing/2014/main" id="{1FC1E92E-9887-49BB-AB9F-16CA63AA0D87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666E7C13-D308-4A21-A5B7-7451B6693A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985" b="6949"/>
            <a:stretch/>
          </p:blipFill>
          <p:spPr>
            <a:xfrm>
              <a:off x="555243" y="1282700"/>
              <a:ext cx="1508761" cy="303784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E512ABC-F954-4798-BDEC-D1558B1E0E76}"/>
              </a:ext>
            </a:extLst>
          </p:cNvPr>
          <p:cNvGrpSpPr/>
          <p:nvPr/>
        </p:nvGrpSpPr>
        <p:grpSpPr>
          <a:xfrm>
            <a:off x="4693982" y="907921"/>
            <a:ext cx="2000249" cy="3835529"/>
            <a:chOff x="298450" y="936501"/>
            <a:chExt cx="2000249" cy="3835529"/>
          </a:xfrm>
        </p:grpSpPr>
        <p:sp>
          <p:nvSpPr>
            <p:cNvPr id="107" name="Shape 4">
              <a:extLst>
                <a:ext uri="{FF2B5EF4-FFF2-40B4-BE49-F238E27FC236}">
                  <a16:creationId xmlns:a16="http://schemas.microsoft.com/office/drawing/2014/main" id="{5B953A25-D8CA-4E12-83B0-A6B126F8725C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D5E00458-D98A-4B28-8633-D31B61BC7D55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09" name="Shape 6">
              <a:extLst>
                <a:ext uri="{FF2B5EF4-FFF2-40B4-BE49-F238E27FC236}">
                  <a16:creationId xmlns:a16="http://schemas.microsoft.com/office/drawing/2014/main" id="{A45D7C53-F25C-48F3-B4C1-5A84EEC71826}"/>
                </a:ext>
              </a:extLst>
            </p:cNvPr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10" name="Text 8">
              <a:extLst>
                <a:ext uri="{FF2B5EF4-FFF2-40B4-BE49-F238E27FC236}">
                  <a16:creationId xmlns:a16="http://schemas.microsoft.com/office/drawing/2014/main" id="{6E676F05-0D8F-4AE2-BEEC-C9C1A470539C}"/>
                </a:ext>
              </a:extLst>
            </p:cNvPr>
            <p:cNvSpPr/>
            <p:nvPr/>
          </p:nvSpPr>
          <p:spPr>
            <a:xfrm>
              <a:off x="441837" y="4408298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Customization(1)</a:t>
              </a:r>
              <a:endParaRPr lang="en-US" sz="950" dirty="0"/>
            </a:p>
          </p:txBody>
        </p:sp>
        <p:sp>
          <p:nvSpPr>
            <p:cNvPr id="111" name="Text 37">
              <a:extLst>
                <a:ext uri="{FF2B5EF4-FFF2-40B4-BE49-F238E27FC236}">
                  <a16:creationId xmlns:a16="http://schemas.microsoft.com/office/drawing/2014/main" id="{60D73B70-38DD-4087-93B0-ACB5469F3BBA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491719A3-1DB5-4285-85D2-415675F370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985" b="6949"/>
            <a:stretch/>
          </p:blipFill>
          <p:spPr>
            <a:xfrm>
              <a:off x="555243" y="1282700"/>
              <a:ext cx="1508761" cy="3037840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C1AD8F3-1991-422D-920B-77C063008C3B}"/>
              </a:ext>
            </a:extLst>
          </p:cNvPr>
          <p:cNvGrpSpPr/>
          <p:nvPr/>
        </p:nvGrpSpPr>
        <p:grpSpPr>
          <a:xfrm>
            <a:off x="6806568" y="881383"/>
            <a:ext cx="2000249" cy="3915153"/>
            <a:chOff x="298450" y="936501"/>
            <a:chExt cx="2000249" cy="3915153"/>
          </a:xfrm>
        </p:grpSpPr>
        <p:sp>
          <p:nvSpPr>
            <p:cNvPr id="114" name="Shape 4">
              <a:extLst>
                <a:ext uri="{FF2B5EF4-FFF2-40B4-BE49-F238E27FC236}">
                  <a16:creationId xmlns:a16="http://schemas.microsoft.com/office/drawing/2014/main" id="{421A1D63-1183-4226-8AEB-63378DA53F65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15" name="Shape 5">
              <a:extLst>
                <a:ext uri="{FF2B5EF4-FFF2-40B4-BE49-F238E27FC236}">
                  <a16:creationId xmlns:a16="http://schemas.microsoft.com/office/drawing/2014/main" id="{25680FE2-02CD-43A8-B004-F11A8DB782B4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16" name="Shape 6">
              <a:extLst>
                <a:ext uri="{FF2B5EF4-FFF2-40B4-BE49-F238E27FC236}">
                  <a16:creationId xmlns:a16="http://schemas.microsoft.com/office/drawing/2014/main" id="{FE4D4294-E970-489B-8090-5EF9D358F11E}"/>
                </a:ext>
              </a:extLst>
            </p:cNvPr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17" name="Text 8">
              <a:extLst>
                <a:ext uri="{FF2B5EF4-FFF2-40B4-BE49-F238E27FC236}">
                  <a16:creationId xmlns:a16="http://schemas.microsoft.com/office/drawing/2014/main" id="{84213587-B843-479A-984B-0F2ABFE064E7}"/>
                </a:ext>
              </a:extLst>
            </p:cNvPr>
            <p:cNvSpPr/>
            <p:nvPr/>
          </p:nvSpPr>
          <p:spPr>
            <a:xfrm>
              <a:off x="468814" y="4487922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Customization(2)</a:t>
              </a:r>
              <a:endParaRPr lang="en-US" sz="950" dirty="0"/>
            </a:p>
            <a:p>
              <a:pPr marL="0" indent="0" algn="ctr">
                <a:buNone/>
              </a:pPr>
              <a:endParaRPr lang="en-US" sz="950" dirty="0"/>
            </a:p>
          </p:txBody>
        </p:sp>
        <p:sp>
          <p:nvSpPr>
            <p:cNvPr id="118" name="Text 37">
              <a:extLst>
                <a:ext uri="{FF2B5EF4-FFF2-40B4-BE49-F238E27FC236}">
                  <a16:creationId xmlns:a16="http://schemas.microsoft.com/office/drawing/2014/main" id="{82F4AFB3-46C4-4A36-B64E-60056A759634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286AB3A2-70F9-4A79-9B44-AFA235E71A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985" b="6949"/>
            <a:stretch/>
          </p:blipFill>
          <p:spPr>
            <a:xfrm>
              <a:off x="555243" y="1282700"/>
              <a:ext cx="1508761" cy="3037840"/>
            </a:xfrm>
            <a:prstGeom prst="rect">
              <a:avLst/>
            </a:prstGeom>
          </p:spPr>
        </p:pic>
      </p:grpSp>
      <p:pic>
        <p:nvPicPr>
          <p:cNvPr id="120" name="Picture 119">
            <a:extLst>
              <a:ext uri="{FF2B5EF4-FFF2-40B4-BE49-F238E27FC236}">
                <a16:creationId xmlns:a16="http://schemas.microsoft.com/office/drawing/2014/main" id="{77B5F0CB-C4FC-4297-B736-7E6D8A6E3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324" y="1179058"/>
            <a:ext cx="1533008" cy="3122040"/>
          </a:xfrm>
          <a:prstGeom prst="rect">
            <a:avLst/>
          </a:prstGeom>
        </p:spPr>
      </p:pic>
      <p:sp>
        <p:nvSpPr>
          <p:cNvPr id="122" name="AutoShape 6">
            <a:extLst>
              <a:ext uri="{FF2B5EF4-FFF2-40B4-BE49-F238E27FC236}">
                <a16:creationId xmlns:a16="http://schemas.microsoft.com/office/drawing/2014/main" id="{1BBECBF9-728B-4812-8298-147CACFB73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AutoShape 8">
            <a:extLst>
              <a:ext uri="{FF2B5EF4-FFF2-40B4-BE49-F238E27FC236}">
                <a16:creationId xmlns:a16="http://schemas.microsoft.com/office/drawing/2014/main" id="{000CACF6-21B4-40A7-B4B9-B40500DDEE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460715A3-D9ED-452D-B983-257744F089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703" b="7481"/>
          <a:stretch/>
        </p:blipFill>
        <p:spPr>
          <a:xfrm>
            <a:off x="4897761" y="1179058"/>
            <a:ext cx="1598922" cy="3211076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F14EB95D-CA09-430C-9368-4414228EA02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075" b="6096"/>
          <a:stretch/>
        </p:blipFill>
        <p:spPr>
          <a:xfrm>
            <a:off x="7026217" y="1164893"/>
            <a:ext cx="1585793" cy="31724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3331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741420" cy="659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INVENTORY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674" y="-9066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Fully Designed Flutter Screens</a:t>
            </a:r>
            <a:endParaRPr lang="en-US" sz="1100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E20F162-A7E7-460F-8BF4-6244CB54DB95}"/>
              </a:ext>
            </a:extLst>
          </p:cNvPr>
          <p:cNvGrpSpPr/>
          <p:nvPr/>
        </p:nvGrpSpPr>
        <p:grpSpPr>
          <a:xfrm>
            <a:off x="393699" y="923801"/>
            <a:ext cx="2000249" cy="3834898"/>
            <a:chOff x="298450" y="936501"/>
            <a:chExt cx="2000249" cy="3834898"/>
          </a:xfrm>
        </p:grpSpPr>
        <p:sp>
          <p:nvSpPr>
            <p:cNvPr id="6" name="Shape 4"/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23866" y="4407667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History</a:t>
              </a:r>
              <a:endParaRPr lang="en-US" sz="9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142D1B90-CEF5-4B3D-B5E4-66D9465A4C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985" b="6949"/>
            <a:stretch/>
          </p:blipFill>
          <p:spPr>
            <a:xfrm>
              <a:off x="555243" y="1282700"/>
              <a:ext cx="1508761" cy="3037840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A69E157-0EF3-44F0-9C1F-D1AEA1037B86}"/>
              </a:ext>
            </a:extLst>
          </p:cNvPr>
          <p:cNvGrpSpPr/>
          <p:nvPr/>
        </p:nvGrpSpPr>
        <p:grpSpPr>
          <a:xfrm>
            <a:off x="2528381" y="902592"/>
            <a:ext cx="2000249" cy="3927331"/>
            <a:chOff x="298450" y="936501"/>
            <a:chExt cx="2000249" cy="3927331"/>
          </a:xfrm>
        </p:grpSpPr>
        <p:sp>
          <p:nvSpPr>
            <p:cNvPr id="100" name="Shape 4">
              <a:extLst>
                <a:ext uri="{FF2B5EF4-FFF2-40B4-BE49-F238E27FC236}">
                  <a16:creationId xmlns:a16="http://schemas.microsoft.com/office/drawing/2014/main" id="{24D6366C-581D-4B5B-BAEA-6ACFBB9DDF8D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01" name="Shape 5">
              <a:extLst>
                <a:ext uri="{FF2B5EF4-FFF2-40B4-BE49-F238E27FC236}">
                  <a16:creationId xmlns:a16="http://schemas.microsoft.com/office/drawing/2014/main" id="{371EDCF6-7F77-4929-A99A-4DD75A62DADE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02" name="Shape 6">
              <a:extLst>
                <a:ext uri="{FF2B5EF4-FFF2-40B4-BE49-F238E27FC236}">
                  <a16:creationId xmlns:a16="http://schemas.microsoft.com/office/drawing/2014/main" id="{9D076934-44FA-4198-A983-61CB2B15D747}"/>
                </a:ext>
              </a:extLst>
            </p:cNvPr>
            <p:cNvSpPr/>
            <p:nvPr/>
          </p:nvSpPr>
          <p:spPr>
            <a:xfrm>
              <a:off x="396242" y="1101851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03" name="Text 8">
              <a:extLst>
                <a:ext uri="{FF2B5EF4-FFF2-40B4-BE49-F238E27FC236}">
                  <a16:creationId xmlns:a16="http://schemas.microsoft.com/office/drawing/2014/main" id="{38505B7D-2748-4254-8B49-C0AB5D23DA60}"/>
                </a:ext>
              </a:extLst>
            </p:cNvPr>
            <p:cNvSpPr/>
            <p:nvPr/>
          </p:nvSpPr>
          <p:spPr>
            <a:xfrm>
              <a:off x="437895" y="4500100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Placing Order</a:t>
              </a:r>
              <a:endParaRPr lang="en-US" sz="950" dirty="0"/>
            </a:p>
            <a:p>
              <a:pPr marL="0" indent="0" algn="ctr">
                <a:buNone/>
              </a:pPr>
              <a:endParaRPr lang="en-US" sz="950" dirty="0"/>
            </a:p>
          </p:txBody>
        </p:sp>
        <p:sp>
          <p:nvSpPr>
            <p:cNvPr id="104" name="Text 37">
              <a:extLst>
                <a:ext uri="{FF2B5EF4-FFF2-40B4-BE49-F238E27FC236}">
                  <a16:creationId xmlns:a16="http://schemas.microsoft.com/office/drawing/2014/main" id="{1FC1E92E-9887-49BB-AB9F-16CA63AA0D87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E512ABC-F954-4798-BDEC-D1558B1E0E76}"/>
              </a:ext>
            </a:extLst>
          </p:cNvPr>
          <p:cNvGrpSpPr/>
          <p:nvPr/>
        </p:nvGrpSpPr>
        <p:grpSpPr>
          <a:xfrm>
            <a:off x="4693982" y="907921"/>
            <a:ext cx="2000249" cy="3835529"/>
            <a:chOff x="298450" y="936501"/>
            <a:chExt cx="2000249" cy="3835529"/>
          </a:xfrm>
        </p:grpSpPr>
        <p:sp>
          <p:nvSpPr>
            <p:cNvPr id="107" name="Shape 4">
              <a:extLst>
                <a:ext uri="{FF2B5EF4-FFF2-40B4-BE49-F238E27FC236}">
                  <a16:creationId xmlns:a16="http://schemas.microsoft.com/office/drawing/2014/main" id="{5B953A25-D8CA-4E12-83B0-A6B126F8725C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D5E00458-D98A-4B28-8633-D31B61BC7D55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09" name="Shape 6">
              <a:extLst>
                <a:ext uri="{FF2B5EF4-FFF2-40B4-BE49-F238E27FC236}">
                  <a16:creationId xmlns:a16="http://schemas.microsoft.com/office/drawing/2014/main" id="{A45D7C53-F25C-48F3-B4C1-5A84EEC71826}"/>
                </a:ext>
              </a:extLst>
            </p:cNvPr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10" name="Text 8">
              <a:extLst>
                <a:ext uri="{FF2B5EF4-FFF2-40B4-BE49-F238E27FC236}">
                  <a16:creationId xmlns:a16="http://schemas.microsoft.com/office/drawing/2014/main" id="{6E676F05-0D8F-4AE2-BEEC-C9C1A470539C}"/>
                </a:ext>
              </a:extLst>
            </p:cNvPr>
            <p:cNvSpPr/>
            <p:nvPr/>
          </p:nvSpPr>
          <p:spPr>
            <a:xfrm>
              <a:off x="441837" y="4408298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Favorite</a:t>
              </a:r>
              <a:endParaRPr lang="en-US" sz="950" dirty="0"/>
            </a:p>
          </p:txBody>
        </p:sp>
        <p:sp>
          <p:nvSpPr>
            <p:cNvPr id="111" name="Text 37">
              <a:extLst>
                <a:ext uri="{FF2B5EF4-FFF2-40B4-BE49-F238E27FC236}">
                  <a16:creationId xmlns:a16="http://schemas.microsoft.com/office/drawing/2014/main" id="{60D73B70-38DD-4087-93B0-ACB5469F3BBA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491719A3-1DB5-4285-85D2-415675F370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985" b="6949"/>
            <a:stretch/>
          </p:blipFill>
          <p:spPr>
            <a:xfrm>
              <a:off x="555243" y="1282700"/>
              <a:ext cx="1508761" cy="3037840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C1AD8F3-1991-422D-920B-77C063008C3B}"/>
              </a:ext>
            </a:extLst>
          </p:cNvPr>
          <p:cNvGrpSpPr/>
          <p:nvPr/>
        </p:nvGrpSpPr>
        <p:grpSpPr>
          <a:xfrm>
            <a:off x="6806568" y="881383"/>
            <a:ext cx="2000249" cy="3915153"/>
            <a:chOff x="298450" y="936501"/>
            <a:chExt cx="2000249" cy="3915153"/>
          </a:xfrm>
        </p:grpSpPr>
        <p:sp>
          <p:nvSpPr>
            <p:cNvPr id="114" name="Shape 4">
              <a:extLst>
                <a:ext uri="{FF2B5EF4-FFF2-40B4-BE49-F238E27FC236}">
                  <a16:creationId xmlns:a16="http://schemas.microsoft.com/office/drawing/2014/main" id="{421A1D63-1183-4226-8AEB-63378DA53F65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15" name="Shape 5">
              <a:extLst>
                <a:ext uri="{FF2B5EF4-FFF2-40B4-BE49-F238E27FC236}">
                  <a16:creationId xmlns:a16="http://schemas.microsoft.com/office/drawing/2014/main" id="{25680FE2-02CD-43A8-B004-F11A8DB782B4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16" name="Shape 6">
              <a:extLst>
                <a:ext uri="{FF2B5EF4-FFF2-40B4-BE49-F238E27FC236}">
                  <a16:creationId xmlns:a16="http://schemas.microsoft.com/office/drawing/2014/main" id="{FE4D4294-E970-489B-8090-5EF9D358F11E}"/>
                </a:ext>
              </a:extLst>
            </p:cNvPr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17" name="Text 8">
              <a:extLst>
                <a:ext uri="{FF2B5EF4-FFF2-40B4-BE49-F238E27FC236}">
                  <a16:creationId xmlns:a16="http://schemas.microsoft.com/office/drawing/2014/main" id="{84213587-B843-479A-984B-0F2ABFE064E7}"/>
                </a:ext>
              </a:extLst>
            </p:cNvPr>
            <p:cNvSpPr/>
            <p:nvPr/>
          </p:nvSpPr>
          <p:spPr>
            <a:xfrm>
              <a:off x="468814" y="4487922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Profile</a:t>
              </a:r>
              <a:endParaRPr lang="en-US" sz="950" dirty="0"/>
            </a:p>
            <a:p>
              <a:pPr marL="0" indent="0" algn="ctr">
                <a:buNone/>
              </a:pPr>
              <a:endParaRPr lang="en-US" sz="950" dirty="0"/>
            </a:p>
          </p:txBody>
        </p:sp>
        <p:sp>
          <p:nvSpPr>
            <p:cNvPr id="118" name="Text 37">
              <a:extLst>
                <a:ext uri="{FF2B5EF4-FFF2-40B4-BE49-F238E27FC236}">
                  <a16:creationId xmlns:a16="http://schemas.microsoft.com/office/drawing/2014/main" id="{82F4AFB3-46C4-4A36-B64E-60056A759634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</p:grpSp>
      <p:sp>
        <p:nvSpPr>
          <p:cNvPr id="122" name="AutoShape 6">
            <a:extLst>
              <a:ext uri="{FF2B5EF4-FFF2-40B4-BE49-F238E27FC236}">
                <a16:creationId xmlns:a16="http://schemas.microsoft.com/office/drawing/2014/main" id="{1BBECBF9-728B-4812-8298-147CACFB73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AutoShape 8">
            <a:extLst>
              <a:ext uri="{FF2B5EF4-FFF2-40B4-BE49-F238E27FC236}">
                <a16:creationId xmlns:a16="http://schemas.microsoft.com/office/drawing/2014/main" id="{000CACF6-21B4-40A7-B4B9-B40500DDEE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07F06-6603-46BF-B9F8-4491F0D706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"/>
          <a:stretch/>
        </p:blipFill>
        <p:spPr>
          <a:xfrm>
            <a:off x="628388" y="1212194"/>
            <a:ext cx="1530865" cy="3125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95631A-9DE1-40F6-854E-82014573D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5500" y="1197053"/>
            <a:ext cx="1543799" cy="31519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239C63-A472-4A49-B9D6-3D5E411C0E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9343" y="1179290"/>
            <a:ext cx="1589525" cy="3165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586BB4-3764-4D10-B939-B35997C80B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6986" y="1179290"/>
            <a:ext cx="1475536" cy="315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84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3331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741420" cy="659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INVENTORY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674" y="-9066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Fully Designed Flutter Screens</a:t>
            </a:r>
            <a:endParaRPr lang="en-US" sz="1100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E20F162-A7E7-460F-8BF4-6244CB54DB95}"/>
              </a:ext>
            </a:extLst>
          </p:cNvPr>
          <p:cNvGrpSpPr/>
          <p:nvPr/>
        </p:nvGrpSpPr>
        <p:grpSpPr>
          <a:xfrm>
            <a:off x="393699" y="923801"/>
            <a:ext cx="2000249" cy="3834898"/>
            <a:chOff x="298450" y="936501"/>
            <a:chExt cx="2000249" cy="3834898"/>
          </a:xfrm>
        </p:grpSpPr>
        <p:sp>
          <p:nvSpPr>
            <p:cNvPr id="6" name="Shape 4"/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23866" y="4407667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Settings</a:t>
              </a:r>
              <a:endParaRPr lang="en-US" sz="9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A69E157-0EF3-44F0-9C1F-D1AEA1037B86}"/>
              </a:ext>
            </a:extLst>
          </p:cNvPr>
          <p:cNvGrpSpPr/>
          <p:nvPr/>
        </p:nvGrpSpPr>
        <p:grpSpPr>
          <a:xfrm>
            <a:off x="2528381" y="902592"/>
            <a:ext cx="2000249" cy="3927331"/>
            <a:chOff x="298450" y="936501"/>
            <a:chExt cx="2000249" cy="3927331"/>
          </a:xfrm>
        </p:grpSpPr>
        <p:sp>
          <p:nvSpPr>
            <p:cNvPr id="100" name="Shape 4">
              <a:extLst>
                <a:ext uri="{FF2B5EF4-FFF2-40B4-BE49-F238E27FC236}">
                  <a16:creationId xmlns:a16="http://schemas.microsoft.com/office/drawing/2014/main" id="{24D6366C-581D-4B5B-BAEA-6ACFBB9DDF8D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01" name="Shape 5">
              <a:extLst>
                <a:ext uri="{FF2B5EF4-FFF2-40B4-BE49-F238E27FC236}">
                  <a16:creationId xmlns:a16="http://schemas.microsoft.com/office/drawing/2014/main" id="{371EDCF6-7F77-4929-A99A-4DD75A62DADE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02" name="Shape 6">
              <a:extLst>
                <a:ext uri="{FF2B5EF4-FFF2-40B4-BE49-F238E27FC236}">
                  <a16:creationId xmlns:a16="http://schemas.microsoft.com/office/drawing/2014/main" id="{9D076934-44FA-4198-A983-61CB2B15D747}"/>
                </a:ext>
              </a:extLst>
            </p:cNvPr>
            <p:cNvSpPr/>
            <p:nvPr/>
          </p:nvSpPr>
          <p:spPr>
            <a:xfrm>
              <a:off x="396242" y="1101851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03" name="Text 8">
              <a:extLst>
                <a:ext uri="{FF2B5EF4-FFF2-40B4-BE49-F238E27FC236}">
                  <a16:creationId xmlns:a16="http://schemas.microsoft.com/office/drawing/2014/main" id="{38505B7D-2748-4254-8B49-C0AB5D23DA60}"/>
                </a:ext>
              </a:extLst>
            </p:cNvPr>
            <p:cNvSpPr/>
            <p:nvPr/>
          </p:nvSpPr>
          <p:spPr>
            <a:xfrm>
              <a:off x="437895" y="4500100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Settings (2)</a:t>
              </a:r>
              <a:endParaRPr lang="en-US" sz="950" dirty="0"/>
            </a:p>
            <a:p>
              <a:pPr marL="0" indent="0" algn="ctr">
                <a:buNone/>
              </a:pPr>
              <a:endParaRPr lang="en-US" sz="950" dirty="0"/>
            </a:p>
          </p:txBody>
        </p:sp>
        <p:sp>
          <p:nvSpPr>
            <p:cNvPr id="104" name="Text 37">
              <a:extLst>
                <a:ext uri="{FF2B5EF4-FFF2-40B4-BE49-F238E27FC236}">
                  <a16:creationId xmlns:a16="http://schemas.microsoft.com/office/drawing/2014/main" id="{1FC1E92E-9887-49BB-AB9F-16CA63AA0D87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E512ABC-F954-4798-BDEC-D1558B1E0E76}"/>
              </a:ext>
            </a:extLst>
          </p:cNvPr>
          <p:cNvGrpSpPr/>
          <p:nvPr/>
        </p:nvGrpSpPr>
        <p:grpSpPr>
          <a:xfrm>
            <a:off x="4693982" y="907921"/>
            <a:ext cx="2000249" cy="3835529"/>
            <a:chOff x="298450" y="936501"/>
            <a:chExt cx="2000249" cy="3835529"/>
          </a:xfrm>
        </p:grpSpPr>
        <p:sp>
          <p:nvSpPr>
            <p:cNvPr id="107" name="Shape 4">
              <a:extLst>
                <a:ext uri="{FF2B5EF4-FFF2-40B4-BE49-F238E27FC236}">
                  <a16:creationId xmlns:a16="http://schemas.microsoft.com/office/drawing/2014/main" id="{5B953A25-D8CA-4E12-83B0-A6B126F8725C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D5E00458-D98A-4B28-8633-D31B61BC7D55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09" name="Shape 6">
              <a:extLst>
                <a:ext uri="{FF2B5EF4-FFF2-40B4-BE49-F238E27FC236}">
                  <a16:creationId xmlns:a16="http://schemas.microsoft.com/office/drawing/2014/main" id="{A45D7C53-F25C-48F3-B4C1-5A84EEC71826}"/>
                </a:ext>
              </a:extLst>
            </p:cNvPr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10" name="Text 8">
              <a:extLst>
                <a:ext uri="{FF2B5EF4-FFF2-40B4-BE49-F238E27FC236}">
                  <a16:creationId xmlns:a16="http://schemas.microsoft.com/office/drawing/2014/main" id="{6E676F05-0D8F-4AE2-BEEC-C9C1A470539C}"/>
                </a:ext>
              </a:extLst>
            </p:cNvPr>
            <p:cNvSpPr/>
            <p:nvPr/>
          </p:nvSpPr>
          <p:spPr>
            <a:xfrm>
              <a:off x="441837" y="4408298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Rewards</a:t>
              </a:r>
              <a:endParaRPr lang="en-US" sz="950" dirty="0"/>
            </a:p>
          </p:txBody>
        </p:sp>
        <p:sp>
          <p:nvSpPr>
            <p:cNvPr id="111" name="Text 37">
              <a:extLst>
                <a:ext uri="{FF2B5EF4-FFF2-40B4-BE49-F238E27FC236}">
                  <a16:creationId xmlns:a16="http://schemas.microsoft.com/office/drawing/2014/main" id="{60D73B70-38DD-4087-93B0-ACB5469F3BBA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C1AD8F3-1991-422D-920B-77C063008C3B}"/>
              </a:ext>
            </a:extLst>
          </p:cNvPr>
          <p:cNvGrpSpPr/>
          <p:nvPr/>
        </p:nvGrpSpPr>
        <p:grpSpPr>
          <a:xfrm>
            <a:off x="6806568" y="881383"/>
            <a:ext cx="2000249" cy="3915153"/>
            <a:chOff x="298450" y="936501"/>
            <a:chExt cx="2000249" cy="3915153"/>
          </a:xfrm>
        </p:grpSpPr>
        <p:sp>
          <p:nvSpPr>
            <p:cNvPr id="114" name="Shape 4">
              <a:extLst>
                <a:ext uri="{FF2B5EF4-FFF2-40B4-BE49-F238E27FC236}">
                  <a16:creationId xmlns:a16="http://schemas.microsoft.com/office/drawing/2014/main" id="{421A1D63-1183-4226-8AEB-63378DA53F65}"/>
                </a:ext>
              </a:extLst>
            </p:cNvPr>
            <p:cNvSpPr/>
            <p:nvPr/>
          </p:nvSpPr>
          <p:spPr>
            <a:xfrm>
              <a:off x="298450" y="941830"/>
              <a:ext cx="2000249" cy="381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15" name="Shape 5">
              <a:extLst>
                <a:ext uri="{FF2B5EF4-FFF2-40B4-BE49-F238E27FC236}">
                  <a16:creationId xmlns:a16="http://schemas.microsoft.com/office/drawing/2014/main" id="{25680FE2-02CD-43A8-B004-F11A8DB782B4}"/>
                </a:ext>
              </a:extLst>
            </p:cNvPr>
            <p:cNvSpPr/>
            <p:nvPr/>
          </p:nvSpPr>
          <p:spPr>
            <a:xfrm>
              <a:off x="298450" y="936501"/>
              <a:ext cx="2000249" cy="54864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16" name="Shape 6">
              <a:extLst>
                <a:ext uri="{FF2B5EF4-FFF2-40B4-BE49-F238E27FC236}">
                  <a16:creationId xmlns:a16="http://schemas.microsoft.com/office/drawing/2014/main" id="{FE4D4294-E970-489B-8090-5EF9D358F11E}"/>
                </a:ext>
              </a:extLst>
            </p:cNvPr>
            <p:cNvSpPr/>
            <p:nvPr/>
          </p:nvSpPr>
          <p:spPr>
            <a:xfrm>
              <a:off x="411480" y="1096522"/>
              <a:ext cx="1750313" cy="3387854"/>
            </a:xfrm>
            <a:prstGeom prst="rect">
              <a:avLst/>
            </a:prstGeom>
            <a:solidFill>
              <a:srgbClr val="F2EBE3"/>
            </a:solidFill>
            <a:ln w="6350">
              <a:solidFill>
                <a:srgbClr val="D4BFB3"/>
              </a:solidFill>
              <a:prstDash val="solid"/>
            </a:ln>
          </p:spPr>
        </p:sp>
        <p:sp>
          <p:nvSpPr>
            <p:cNvPr id="117" name="Text 8">
              <a:extLst>
                <a:ext uri="{FF2B5EF4-FFF2-40B4-BE49-F238E27FC236}">
                  <a16:creationId xmlns:a16="http://schemas.microsoft.com/office/drawing/2014/main" id="{84213587-B843-479A-984B-0F2ABFE064E7}"/>
                </a:ext>
              </a:extLst>
            </p:cNvPr>
            <p:cNvSpPr/>
            <p:nvPr/>
          </p:nvSpPr>
          <p:spPr>
            <a:xfrm>
              <a:off x="468814" y="4487922"/>
              <a:ext cx="1743455" cy="3637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 dirty="0">
                  <a:solidFill>
                    <a:srgbClr val="1A100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Feedback</a:t>
              </a:r>
              <a:endParaRPr lang="en-US" sz="950" dirty="0"/>
            </a:p>
            <a:p>
              <a:pPr marL="0" indent="0" algn="ctr">
                <a:buNone/>
              </a:pPr>
              <a:endParaRPr lang="en-US" sz="950" dirty="0"/>
            </a:p>
          </p:txBody>
        </p:sp>
        <p:sp>
          <p:nvSpPr>
            <p:cNvPr id="118" name="Text 37">
              <a:extLst>
                <a:ext uri="{FF2B5EF4-FFF2-40B4-BE49-F238E27FC236}">
                  <a16:creationId xmlns:a16="http://schemas.microsoft.com/office/drawing/2014/main" id="{82F4AFB3-46C4-4A36-B64E-60056A759634}"/>
                </a:ext>
              </a:extLst>
            </p:cNvPr>
            <p:cNvSpPr/>
            <p:nvPr/>
          </p:nvSpPr>
          <p:spPr>
            <a:xfrm>
              <a:off x="411480" y="2450592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</p:grpSp>
      <p:sp>
        <p:nvSpPr>
          <p:cNvPr id="122" name="AutoShape 6">
            <a:extLst>
              <a:ext uri="{FF2B5EF4-FFF2-40B4-BE49-F238E27FC236}">
                <a16:creationId xmlns:a16="http://schemas.microsoft.com/office/drawing/2014/main" id="{1BBECBF9-728B-4812-8298-147CACFB73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AutoShape 8">
            <a:extLst>
              <a:ext uri="{FF2B5EF4-FFF2-40B4-BE49-F238E27FC236}">
                <a16:creationId xmlns:a16="http://schemas.microsoft.com/office/drawing/2014/main" id="{000CACF6-21B4-40A7-B4B9-B40500DDEE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10D235-1332-4977-8DBC-6A9CA7874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1206597"/>
            <a:ext cx="1547522" cy="31378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49C6FD-BF3C-4361-A8A6-D3CA5A9B9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411" y="1206596"/>
            <a:ext cx="1533106" cy="31378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95FC3B-B5BB-4B92-8C78-6A226827F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139" y="1215424"/>
            <a:ext cx="1527523" cy="31218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F74B8E-9AFD-4F7F-9E0A-F7DED9659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7042" y="1215424"/>
            <a:ext cx="1445228" cy="312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8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4A005-CA1D-B2AD-13DF-DA23BFF9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62FE9F-42D0-1ECA-E686-C437941C3071}"/>
              </a:ext>
            </a:extLst>
          </p:cNvPr>
          <p:cNvSpPr/>
          <p:nvPr/>
        </p:nvSpPr>
        <p:spPr>
          <a:xfrm>
            <a:off x="0" y="0"/>
            <a:ext cx="9144000" cy="703331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9DD74D-BD1B-6B1C-BC7E-92D9FD4586DA}"/>
              </a:ext>
            </a:extLst>
          </p:cNvPr>
          <p:cNvSpPr/>
          <p:nvPr/>
        </p:nvSpPr>
        <p:spPr>
          <a:xfrm>
            <a:off x="411480" y="0"/>
            <a:ext cx="3741420" cy="659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INVENTORY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F6417E-833E-7B06-108D-D8C89432ECC4}"/>
              </a:ext>
            </a:extLst>
          </p:cNvPr>
          <p:cNvSpPr/>
          <p:nvPr/>
        </p:nvSpPr>
        <p:spPr>
          <a:xfrm>
            <a:off x="566674" y="-9066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Fully Designed </a:t>
            </a:r>
            <a:r>
              <a:rPr lang="en-US" sz="1100" i="1" dirty="0" err="1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Bckend</a:t>
            </a: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9D1F76-8461-AE76-007F-39EBF014F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34" y="998552"/>
            <a:ext cx="3507866" cy="17397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F2F406-123E-C8A0-DE5E-075FAC8B7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530" y="998552"/>
            <a:ext cx="3722544" cy="17397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530375-6064-C8F9-0F1E-541C56BC2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34" y="3004547"/>
            <a:ext cx="3396909" cy="1757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320DB7-E0D2-AC9A-1C09-D320B76CB7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060" y="2999233"/>
            <a:ext cx="3722544" cy="175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81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B30B0-3F95-7556-F304-B7A3726A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633275-5698-A1F3-CB46-FF61D57EB246}"/>
              </a:ext>
            </a:extLst>
          </p:cNvPr>
          <p:cNvSpPr/>
          <p:nvPr/>
        </p:nvSpPr>
        <p:spPr>
          <a:xfrm>
            <a:off x="0" y="0"/>
            <a:ext cx="9144000" cy="703331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5D8268-0313-3E45-59EB-419F39D53E65}"/>
              </a:ext>
            </a:extLst>
          </p:cNvPr>
          <p:cNvSpPr/>
          <p:nvPr/>
        </p:nvSpPr>
        <p:spPr>
          <a:xfrm>
            <a:off x="411480" y="0"/>
            <a:ext cx="3741420" cy="659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INVENTORY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AF9B42-55D1-F90E-3A52-6250B03B376C}"/>
              </a:ext>
            </a:extLst>
          </p:cNvPr>
          <p:cNvSpPr/>
          <p:nvPr/>
        </p:nvSpPr>
        <p:spPr>
          <a:xfrm>
            <a:off x="566674" y="-9066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Fully Designed </a:t>
            </a:r>
            <a:r>
              <a:rPr lang="en-US" sz="1100" i="1" dirty="0" err="1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Bckend</a:t>
            </a: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48831-49E5-12BC-D52D-AD2AF16DA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95" y="1205404"/>
            <a:ext cx="6450724" cy="321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DE0D4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412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6A0CC3-0FAE-459C-A171-BDEFFDD428DE}"/>
              </a:ext>
            </a:extLst>
          </p:cNvPr>
          <p:cNvGrpSpPr/>
          <p:nvPr/>
        </p:nvGrpSpPr>
        <p:grpSpPr>
          <a:xfrm>
            <a:off x="250190" y="1001268"/>
            <a:ext cx="8595360" cy="3835908"/>
            <a:chOff x="274320" y="1298448"/>
            <a:chExt cx="8595360" cy="3835908"/>
          </a:xfrm>
        </p:grpSpPr>
        <p:sp>
          <p:nvSpPr>
            <p:cNvPr id="8" name="Shape 6"/>
            <p:cNvSpPr/>
            <p:nvPr/>
          </p:nvSpPr>
          <p:spPr>
            <a:xfrm>
              <a:off x="274320" y="1298448"/>
              <a:ext cx="4114800" cy="38359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274320" y="1298448"/>
              <a:ext cx="4114800" cy="347472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65760" y="1298448"/>
              <a:ext cx="40050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— Django REST API (api_server/)</a:t>
              </a:r>
              <a:endParaRPr lang="en-US" sz="9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663440" y="1298448"/>
              <a:ext cx="4206240" cy="38359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4663440" y="1298448"/>
              <a:ext cx="4206240" cy="347472"/>
            </a:xfrm>
            <a:prstGeom prst="rect">
              <a:avLst/>
            </a:prstGeom>
            <a:solidFill>
              <a:srgbClr val="8B5240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754880" y="1298448"/>
              <a:ext cx="409651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 — Flutter (mobile_app/lib/)</a:t>
              </a:r>
              <a:endParaRPr lang="en-US" sz="95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5FE6E3-2DED-48AB-BB58-959D8A73C2C0}"/>
              </a:ext>
            </a:extLst>
          </p:cNvPr>
          <p:cNvGrpSpPr/>
          <p:nvPr/>
        </p:nvGrpSpPr>
        <p:grpSpPr>
          <a:xfrm>
            <a:off x="369189" y="1380744"/>
            <a:ext cx="8412480" cy="3406140"/>
            <a:chOff x="384048" y="1719072"/>
            <a:chExt cx="8412480" cy="3406140"/>
          </a:xfrm>
        </p:grpSpPr>
        <p:sp>
          <p:nvSpPr>
            <p:cNvPr id="11" name="Text 9"/>
            <p:cNvSpPr/>
            <p:nvPr/>
          </p:nvSpPr>
          <p:spPr>
            <a:xfrm>
              <a:off x="384048" y="17190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accounts/models.py — Custom User (phone auth, PIN hashing, membership tiers, beans balance, avatar, UserAddress)</a:t>
              </a:r>
              <a:endParaRPr lang="en-US" sz="8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84048" y="21762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accounts/serializers.py — RegisterSerializer, LoginSerializer, UserProfileSerializer, UserAddressSerializer</a:t>
              </a:r>
              <a:endParaRPr lang="en-US" sz="8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84048" y="26334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accounts/views.py — register_view, login_view, profile_view (multipart), change_pin_view, UserAddressViewSet</a:t>
              </a:r>
              <a:endParaRPr lang="en-US" sz="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84048" y="30906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accounts/admin.py — Avatar thumbnail, inline address editing, fieldset organization</a:t>
              </a:r>
              <a:endParaRPr lang="en-US" sz="8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84048" y="35478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core/settings.py — AUTH_USER_MODEL, CORS, PostgreSQL (dj_database_url), Cloudinary, Jazzmin</a:t>
              </a:r>
              <a:endParaRPr lang="en-US" sz="8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84048" y="40050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core/urls.py — Root URL config for all /api/v1/ endpoints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84048" y="44622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Render deployment: Procfile, build.sh, requirements.txt, create_admin.py</a:t>
              </a:r>
              <a:endParaRPr lang="en-US" sz="8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773168" y="1719072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screens/splash/splash_screen.dart — Animated logo + auto-login from stored token</a:t>
              </a:r>
              <a:endParaRPr lang="en-US" sz="8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773168" y="2066544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screens/onboarding/onboarding_screen.dart — Multi-page intro with page indicators</a:t>
              </a:r>
              <a:endParaRPr lang="en-US" sz="8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773168" y="2414016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screens/auth/login_screen.dart — Phone + PIN, validation, error handling</a:t>
              </a:r>
              <a:endParaRPr lang="en-US" sz="8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73168" y="2761488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screens/auth/signup_screen.dart — Name, phone, email, PIN confirm, auto-login</a:t>
              </a:r>
              <a:endParaRPr lang="en-US" sz="8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773168" y="3108960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core/providers/auth_provider.dart — Full auth state: login, register, profile, PIN change, addresses</a:t>
              </a:r>
              <a:endParaRPr lang="en-US" sz="8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773168" y="3456432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core/api/api_client.dart — Centralized HTTP client, token injection, multipart upload, ApiException</a:t>
              </a:r>
              <a:endParaRPr lang="en-US" sz="8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773168" y="3803904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core/api/api_config.dart — All endpoint constants (auth, products, cart, orders…)</a:t>
              </a:r>
              <a:endParaRPr lang="en-US" sz="8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773168" y="4151376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core/models/models.dart — 14 Dart model classes with fromJson() / toJson()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773168" y="4498848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core/theme/, core/constants/ — AppTheme, AppColors, AppTextStyles, AppAssets, UrlHelper</a:t>
              </a:r>
              <a:endParaRPr lang="en-US" sz="8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745609" y="4796028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main.dart — MultiProvider setup + all named route registration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00" y="-46736"/>
            <a:ext cx="927735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4820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BE146C-7681-4844-951B-0787163ED9E4}"/>
              </a:ext>
            </a:extLst>
          </p:cNvPr>
          <p:cNvGrpSpPr/>
          <p:nvPr/>
        </p:nvGrpSpPr>
        <p:grpSpPr>
          <a:xfrm>
            <a:off x="274320" y="996696"/>
            <a:ext cx="8595360" cy="4008628"/>
            <a:chOff x="274320" y="1298448"/>
            <a:chExt cx="8595360" cy="4008628"/>
          </a:xfrm>
        </p:grpSpPr>
        <p:sp>
          <p:nvSpPr>
            <p:cNvPr id="8" name="Shape 6"/>
            <p:cNvSpPr/>
            <p:nvPr/>
          </p:nvSpPr>
          <p:spPr>
            <a:xfrm>
              <a:off x="274320" y="1298448"/>
              <a:ext cx="4114800" cy="40086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274320" y="1298448"/>
              <a:ext cx="4114800" cy="347472"/>
            </a:xfrm>
            <a:prstGeom prst="rect">
              <a:avLst/>
            </a:prstGeom>
            <a:solidFill>
              <a:srgbClr val="6B3A2A"/>
            </a:solidFill>
            <a:ln w="12700">
              <a:noFill/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65760" y="1298448"/>
              <a:ext cx="40050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— Django REST API (api_server/)</a:t>
              </a:r>
              <a:endParaRPr lang="en-US" sz="9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84048" y="17190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products/models.py — Category, MilkOption, Topping, ProductSize, Product (M2M relationships)</a:t>
              </a:r>
              <a:endParaRPr lang="en-US" sz="8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84048" y="21762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products/serializers.py — CategorySerializer (product_count), ProductListSerializer, ProductDetailSerializer</a:t>
              </a:r>
              <a:endParaRPr lang="en-US" sz="8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84048" y="26334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products/views.py — CategoryList, ProductList (filter), ProductDetail, FeaturedList, AdminProductViewSet</a:t>
              </a:r>
              <a:endParaRPr lang="en-US" sz="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84048" y="30906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cart/models.py — Cart (OneToOne/User), CartItem (subtotal: base + size + milk + toppings × qty)</a:t>
              </a:r>
              <a:endParaRPr lang="en-US" sz="8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84048" y="35478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cart/views.py — cart_view, add_cart_item, update_cart_item, delete_cart_item, clear_cart</a:t>
              </a:r>
              <a:endParaRPr lang="en-US" sz="8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84048" y="40050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stores/ — Store model (name, address, hours, active status) + serializer + view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84048" y="4462272"/>
              <a:ext cx="39319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banners/ — Banner model (title, subtitle, badge, image, linked product, order, active)</a:t>
              </a:r>
              <a:endParaRPr lang="en-US" sz="8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663440" y="1298448"/>
              <a:ext cx="4206240" cy="40086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4663440" y="1298448"/>
              <a:ext cx="4206240" cy="347472"/>
            </a:xfrm>
            <a:prstGeom prst="rect">
              <a:avLst/>
            </a:prstGeom>
            <a:solidFill>
              <a:srgbClr val="8B524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754880" y="1298448"/>
              <a:ext cx="409651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 — Flutter (mobile_app/lib/)</a:t>
              </a:r>
              <a:endParaRPr lang="en-US" sz="9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773168" y="1719072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screens/home/home_screen.dart — Search, banners, category chips, featured grid, pull-to-refresh</a:t>
              </a:r>
              <a:endParaRPr lang="en-US" sz="8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773168" y="2020824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screens/main_shell.dart — BottomNavBar + IndexedStack for tab state preservation</a:t>
              </a:r>
              <a:endParaRPr lang="en-US" sz="8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773168" y="2322576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screens/tea/tea_selection_screen.dart — Tea browsing with banner carousel</a:t>
              </a:r>
              <a:endParaRPr lang="en-US" sz="8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73168" y="2624328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screens/customize/customize_screen.dart — Size/milk/topping/sugar UI + real-time price</a:t>
              </a:r>
              <a:endParaRPr lang="en-US" sz="8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773168" y="2926080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screens/cart/cart_screen.dart — Items, qty ± buttons, subtotal/tax/fee/total, Place Order</a:t>
              </a:r>
              <a:endParaRPr lang="en-US" sz="8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773168" y="3227832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screens/favorites/favorites_screen.dart — Saved product grid + favorite toggle</a:t>
              </a:r>
              <a:endParaRPr lang="en-US" sz="8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773168" y="3529584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screens/profile/profile_screen.dart — Avatar, tier badge, beans, quick-link menu</a:t>
              </a:r>
              <a:endParaRPr lang="en-US" sz="8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773168" y="3831336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screens/profile/edit_profile_screen.dart — Avatar image picker + multipart upload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773168" y="4133088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screens/profile/addresses_screen.dart — CRUD dialogs for saved addresses</a:t>
              </a:r>
              <a:endParaRPr lang="en-US" sz="8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773168" y="4434840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screens/profile/rewards_screen.dart  +  screens/settings/settings_screen.dart</a:t>
              </a:r>
              <a:endParaRPr lang="en-US" sz="8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773168" y="4736592"/>
              <a:ext cx="4023360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core/providers/product_provider.dart  +  cart_provider.dart  +  favorites_provider.dart</a:t>
              </a:r>
              <a:endParaRPr lang="en-US" sz="85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4791456" y="4721860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widgets/ — ProductCard, CategoryChip, AppDrawer, BottomNavBar, ShimmerLoading (+2 more)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0584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-8001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2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079EA80-CF70-40EE-A113-B82F520C0424}"/>
              </a:ext>
            </a:extLst>
          </p:cNvPr>
          <p:cNvGrpSpPr/>
          <p:nvPr/>
        </p:nvGrpSpPr>
        <p:grpSpPr>
          <a:xfrm>
            <a:off x="244602" y="968248"/>
            <a:ext cx="8595360" cy="3662175"/>
            <a:chOff x="274320" y="1293873"/>
            <a:chExt cx="8595360" cy="3662175"/>
          </a:xfrm>
        </p:grpSpPr>
        <p:sp>
          <p:nvSpPr>
            <p:cNvPr id="8" name="Shape 6"/>
            <p:cNvSpPr/>
            <p:nvPr/>
          </p:nvSpPr>
          <p:spPr>
            <a:xfrm>
              <a:off x="292608" y="1293873"/>
              <a:ext cx="4114800" cy="3657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274320" y="1298448"/>
              <a:ext cx="4114800" cy="347472"/>
            </a:xfrm>
            <a:prstGeom prst="rect">
              <a:avLst/>
            </a:prstGeom>
            <a:solidFill>
              <a:srgbClr val="6B3A2A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65760" y="1298448"/>
              <a:ext cx="40050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— Django REST API (api_server/)</a:t>
              </a:r>
              <a:endParaRPr lang="en-US" sz="9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84048" y="1719072"/>
              <a:ext cx="3931920" cy="53492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orders/models.py — Order (6 status choices, beans_earned, subtotal, tax 8%, service fee $0.85), OrderItem (product_name snapshot, line_total, full customization)</a:t>
              </a:r>
              <a:endParaRPr lang="en-US" sz="8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84048" y="2263140"/>
              <a:ext cx="3913632" cy="0"/>
            </a:xfrm>
            <a:prstGeom prst="line">
              <a:avLst/>
            </a:prstGeom>
            <a:noFill/>
            <a:ln w="5080">
              <a:solidFill>
                <a:srgbClr val="D4BFB3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84048" y="2290572"/>
              <a:ext cx="3931920" cy="53492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orders/serializers.py — OrderItemSerializer (nested options + line_total), OrderListSerializer (item_count, store_name), OrderDetailSerializer</a:t>
              </a:r>
              <a:endParaRPr lang="en-US" sz="8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84048" y="2834640"/>
              <a:ext cx="3913632" cy="0"/>
            </a:xfrm>
            <a:prstGeom prst="line">
              <a:avLst/>
            </a:prstGeom>
            <a:noFill/>
            <a:ln w="5080">
              <a:solidFill>
                <a:srgbClr val="D4BFB3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84048" y="2862072"/>
              <a:ext cx="3931920" cy="53492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orders/views.py — order_list, place_order (cart→order, beans, membership upgrade, cart clear), order_detail, reorder (recreates CartItems)</a:t>
              </a:r>
              <a:endParaRPr lang="en-US" sz="8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84048" y="3406140"/>
              <a:ext cx="3913632" cy="0"/>
            </a:xfrm>
            <a:prstGeom prst="line">
              <a:avLst/>
            </a:prstGeom>
            <a:noFill/>
            <a:ln w="5080">
              <a:solidFill>
                <a:srgbClr val="D4BFB3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84048" y="3433572"/>
              <a:ext cx="3931920" cy="53492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feedback/models.py — Feedback (user FK, order OneToOne, service_rating 1-5, taste_satisfaction 0-100, tags JSON array, suggestions, timestamp)</a:t>
              </a:r>
              <a:endParaRPr lang="en-US" sz="8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84048" y="3977640"/>
              <a:ext cx="3913632" cy="0"/>
            </a:xfrm>
            <a:prstGeom prst="line">
              <a:avLst/>
            </a:prstGeom>
            <a:noFill/>
            <a:ln w="5080">
              <a:solidFill>
                <a:srgbClr val="D4BFB3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384048" y="4005072"/>
              <a:ext cx="3931920" cy="53492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B3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feedback/serializers.py — Validation: service_rating 1–5, taste_satisfaction 0–100</a:t>
              </a:r>
              <a:endParaRPr lang="en-US" sz="8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57200" y="4279649"/>
              <a:ext cx="3913632" cy="0"/>
            </a:xfrm>
            <a:prstGeom prst="line">
              <a:avLst/>
            </a:prstGeom>
            <a:noFill/>
            <a:ln w="5080">
              <a:solidFill>
                <a:srgbClr val="D4BFB3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663440" y="1298448"/>
              <a:ext cx="4206240" cy="3657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BFB3"/>
              </a:solidFill>
              <a:prstDash val="solid"/>
            </a:ln>
            <a:effectLst>
              <a:outerShdw blurRad="76200" dist="25400" dir="8100000" algn="bl" rotWithShape="0">
                <a:srgbClr val="6B3A2A">
                  <a:alpha val="12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4663440" y="1298448"/>
              <a:ext cx="4206240" cy="347472"/>
            </a:xfrm>
            <a:prstGeom prst="rect">
              <a:avLst/>
            </a:prstGeom>
            <a:solidFill>
              <a:srgbClr val="8B5240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754880" y="1298448"/>
              <a:ext cx="409651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 — Flutter (mobile_app/lib/)</a:t>
              </a:r>
              <a:endParaRPr lang="en-US" sz="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773168" y="1719072"/>
              <a:ext cx="4023360" cy="82067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screens/orders/order_history_screen.dart — Chronological list, color-coded status badges (Pending/Preparing/Ready/Delivered/Cancelled), beans earned, store name, date, Reorder button</a:t>
              </a:r>
              <a:endParaRPr lang="en-US" sz="8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791456" y="2294636"/>
              <a:ext cx="4005072" cy="0"/>
            </a:xfrm>
            <a:prstGeom prst="line">
              <a:avLst/>
            </a:prstGeom>
            <a:noFill/>
            <a:ln w="5080">
              <a:solidFill>
                <a:srgbClr val="D4BFB3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754880" y="2451735"/>
              <a:ext cx="4023360" cy="82067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screens/orders/order_success_screen.dart — Animated confirmation, order summary (ID, total, beans earned), navigation to home or history</a:t>
              </a:r>
              <a:endParaRPr lang="en-US" sz="8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91456" y="2947162"/>
              <a:ext cx="4005072" cy="0"/>
            </a:xfrm>
            <a:prstGeom prst="line">
              <a:avLst/>
            </a:prstGeom>
            <a:noFill/>
            <a:ln w="5080">
              <a:solidFill>
                <a:srgbClr val="D4BFB3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4782312" y="3072131"/>
              <a:ext cx="4023360" cy="82067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52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850" dirty="0">
                  <a:solidFill>
                    <a:srgbClr val="3D2B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screens/feedback/feedback_screen.dart — Star rating selector (1–5), taste satisfaction slider (0–100%), selectable tags (Fast Service, Friendly Barista, Great Taste, Cozy Atmosphere…), free-text suggestion input, submit to API</a:t>
              </a:r>
              <a:endParaRPr lang="en-US" sz="85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754880" y="3647440"/>
              <a:ext cx="4005072" cy="0"/>
            </a:xfrm>
            <a:prstGeom prst="line">
              <a:avLst/>
            </a:prstGeom>
            <a:noFill/>
            <a:ln w="5080">
              <a:solidFill>
                <a:srgbClr val="D4BFB3"/>
              </a:solidFill>
              <a:prstDash val="solid"/>
            </a:ln>
          </p:spPr>
        </p:sp>
      </p:grpSp>
      <p:sp>
        <p:nvSpPr>
          <p:cNvPr id="31" name="Text 29"/>
          <p:cNvSpPr/>
          <p:nvPr/>
        </p:nvSpPr>
        <p:spPr>
          <a:xfrm>
            <a:off x="4780026" y="3405633"/>
            <a:ext cx="4023360" cy="820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core/providers/order_provider.dart — loadOrders(), placeOrder() (store_id + payment_method, returns OrderModel), reorder() (re-adds to cart), submitFeedback() (rating, satisfaction, tags, suggestions)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1762" y="4031498"/>
            <a:ext cx="393192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feedback/views.py — feedback_list_create: GET (user history) + POST (submit linked to order)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https://aura-brew.onrender.com  |  22+ Endpoints</a:t>
            </a:r>
            <a:endParaRPr lang="en-US" sz="1100" dirty="0"/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70F5C58E-D008-4F4E-9976-482E23419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260" y="1224265"/>
            <a:ext cx="3907319" cy="1615028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806B4B0E-E98E-45A0-B9DA-43FB3153C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21" y="3243063"/>
            <a:ext cx="3787140" cy="1816883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61AA7045-D11E-4CB7-A23C-8E8FF2D3B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855" y="3243063"/>
            <a:ext cx="3912724" cy="1816883"/>
          </a:xfrm>
          <a:prstGeom prst="rect">
            <a:avLst/>
          </a:prstGeom>
        </p:spPr>
      </p:pic>
      <p:sp>
        <p:nvSpPr>
          <p:cNvPr id="185" name="Shape 0">
            <a:extLst>
              <a:ext uri="{FF2B5EF4-FFF2-40B4-BE49-F238E27FC236}">
                <a16:creationId xmlns:a16="http://schemas.microsoft.com/office/drawing/2014/main" id="{26FE7123-4946-45F6-A388-25723F2D503E}"/>
              </a:ext>
            </a:extLst>
          </p:cNvPr>
          <p:cNvSpPr/>
          <p:nvPr/>
        </p:nvSpPr>
        <p:spPr>
          <a:xfrm>
            <a:off x="489420" y="865989"/>
            <a:ext cx="3787141" cy="317712"/>
          </a:xfrm>
          <a:prstGeom prst="rect">
            <a:avLst/>
          </a:prstGeom>
          <a:solidFill>
            <a:srgbClr val="6B3A2A"/>
          </a:solidFill>
          <a:ln w="12700">
            <a:noFill/>
            <a:prstDash val="solid"/>
          </a:ln>
        </p:spPr>
      </p:sp>
      <p:sp>
        <p:nvSpPr>
          <p:cNvPr id="187" name="Shape 47">
            <a:extLst>
              <a:ext uri="{FF2B5EF4-FFF2-40B4-BE49-F238E27FC236}">
                <a16:creationId xmlns:a16="http://schemas.microsoft.com/office/drawing/2014/main" id="{FA1C23FF-D2F1-4156-A15C-1C3DEEEE97FA}"/>
              </a:ext>
            </a:extLst>
          </p:cNvPr>
          <p:cNvSpPr/>
          <p:nvPr/>
        </p:nvSpPr>
        <p:spPr>
          <a:xfrm>
            <a:off x="4741855" y="856025"/>
            <a:ext cx="3912724" cy="325211"/>
          </a:xfrm>
          <a:prstGeom prst="rect">
            <a:avLst/>
          </a:prstGeom>
          <a:solidFill>
            <a:srgbClr val="8B5240"/>
          </a:solidFill>
          <a:ln w="12700">
            <a:noFill/>
            <a:prstDash val="solid"/>
          </a:ln>
        </p:spPr>
        <p:txBody>
          <a:bodyPr/>
          <a:lstStyle/>
          <a:p>
            <a:r>
              <a:rPr lang="en-US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PRODUCTS</a:t>
            </a:r>
            <a:endParaRPr lang="en-US" dirty="0"/>
          </a:p>
        </p:txBody>
      </p:sp>
      <p:sp>
        <p:nvSpPr>
          <p:cNvPr id="188" name="Shape 0">
            <a:extLst>
              <a:ext uri="{FF2B5EF4-FFF2-40B4-BE49-F238E27FC236}">
                <a16:creationId xmlns:a16="http://schemas.microsoft.com/office/drawing/2014/main" id="{2E9E9F8E-F543-44B9-A469-528044928132}"/>
              </a:ext>
            </a:extLst>
          </p:cNvPr>
          <p:cNvSpPr/>
          <p:nvPr/>
        </p:nvSpPr>
        <p:spPr>
          <a:xfrm>
            <a:off x="4747260" y="2882322"/>
            <a:ext cx="3907319" cy="317712"/>
          </a:xfrm>
          <a:prstGeom prst="rect">
            <a:avLst/>
          </a:prstGeom>
          <a:solidFill>
            <a:srgbClr val="6B3A2A"/>
          </a:solidFill>
          <a:ln w="12700">
            <a:noFill/>
            <a:prstDash val="solid"/>
          </a:ln>
        </p:spPr>
      </p:sp>
      <p:sp>
        <p:nvSpPr>
          <p:cNvPr id="189" name="Shape 47">
            <a:extLst>
              <a:ext uri="{FF2B5EF4-FFF2-40B4-BE49-F238E27FC236}">
                <a16:creationId xmlns:a16="http://schemas.microsoft.com/office/drawing/2014/main" id="{96F3B300-00AB-4ABD-B1A1-B6A61D1A2477}"/>
              </a:ext>
            </a:extLst>
          </p:cNvPr>
          <p:cNvSpPr/>
          <p:nvPr/>
        </p:nvSpPr>
        <p:spPr>
          <a:xfrm>
            <a:off x="484017" y="2882322"/>
            <a:ext cx="3792544" cy="325211"/>
          </a:xfrm>
          <a:prstGeom prst="rect">
            <a:avLst/>
          </a:prstGeom>
          <a:solidFill>
            <a:srgbClr val="8B5240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2CCB9DB-9712-440F-9C20-4D3F91977B4B}"/>
              </a:ext>
            </a:extLst>
          </p:cNvPr>
          <p:cNvSpPr/>
          <p:nvPr/>
        </p:nvSpPr>
        <p:spPr>
          <a:xfrm>
            <a:off x="1915963" y="840224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85A7095-41DE-49F8-90C5-1869DF9B3A65}"/>
              </a:ext>
            </a:extLst>
          </p:cNvPr>
          <p:cNvSpPr/>
          <p:nvPr/>
        </p:nvSpPr>
        <p:spPr>
          <a:xfrm>
            <a:off x="5474965" y="2847966"/>
            <a:ext cx="2446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FEEDBACK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2441A3-6D2B-2A5E-A047-8E5E83289D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17" y="1181236"/>
            <a:ext cx="3792544" cy="163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78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Metrics vs. Targets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926080" cy="347472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1645920" cy="347472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960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960120"/>
            <a:ext cx="1828800" cy="347472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960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960120"/>
            <a:ext cx="2377440" cy="347472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960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Applied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307592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3075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Startup 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307592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3075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seconds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30759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13075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seconds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30759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307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IndexedStack preserves tab state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1764792"/>
            <a:ext cx="292608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17647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— Product List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1764792"/>
            <a:ext cx="164592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17647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1764792"/>
            <a:ext cx="182880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7647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 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1764792"/>
            <a:ext cx="237744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17647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select_related / prefetch_related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221992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22219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Loading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2221992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22219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222199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22219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Shimmer → fade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222199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93992" y="22219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CDN edge delivery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2679192"/>
            <a:ext cx="292608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26791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Operations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2679192"/>
            <a:ext cx="164592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9272" y="26791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92040" y="2679192"/>
            <a:ext cx="182880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26791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2679192"/>
            <a:ext cx="237744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93992" y="26791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selective notifyListeners()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3136392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1363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Build Size (release)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46120" y="3136392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31363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92040" y="313639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31363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~22–25 MB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20840" y="313639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93992" y="31363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tree-shaking + minification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593592"/>
            <a:ext cx="292608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" y="35935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46120" y="3593592"/>
            <a:ext cx="164592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19272" y="35935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N+1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92040" y="3593592"/>
            <a:ext cx="182880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65192" y="35935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20840" y="3593592"/>
            <a:ext cx="237744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93992" y="3593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select_related on FK, prefetch M2M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0040" y="4050792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" y="40507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Hash Verification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46120" y="4050792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19272" y="40507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92040" y="405079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65192" y="40507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720840" y="405079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93992" y="40507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hashing (Django make_password)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0040" y="4507992"/>
            <a:ext cx="292608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" y="45079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Serving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46120" y="4507992"/>
            <a:ext cx="164592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19272" y="45079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892040" y="4507992"/>
            <a:ext cx="182880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65192" y="45079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720840" y="4507992"/>
            <a:ext cx="2377440" cy="438912"/>
          </a:xfrm>
          <a:prstGeom prst="rect">
            <a:avLst/>
          </a:prstGeom>
          <a:solidFill>
            <a:srgbClr val="F8F4F0"/>
          </a:solidFill>
          <a:ln w="6350">
            <a:solidFill>
              <a:srgbClr val="D4BFB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93992" y="45079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WhiteNoise with CompressedStaticFiles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Brew vs. Existing Coffee Ordering Applications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286000" cy="347472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960120"/>
            <a:ext cx="2834640" cy="347472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960120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960120"/>
            <a:ext cx="3291840" cy="347472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960120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Brew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07592"/>
            <a:ext cx="22860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07592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Open Source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1307592"/>
            <a:ext cx="28346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307592"/>
            <a:ext cx="2724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Proprietary, closed-source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1307592"/>
            <a:ext cx="32918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1307592"/>
            <a:ext cx="54864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68696" y="1307592"/>
            <a:ext cx="3127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on GitHub with clean architecture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1819656"/>
            <a:ext cx="228600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819656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06040" y="1819656"/>
            <a:ext cx="283464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1819656"/>
            <a:ext cx="2724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— complex for users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1819656"/>
            <a:ext cx="329184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1819656"/>
            <a:ext cx="54864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68696" y="1819656"/>
            <a:ext cx="3127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4-digit PIN + phone — fast and secure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331720"/>
            <a:ext cx="22860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331720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Customization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06040" y="2331720"/>
            <a:ext cx="28346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2331720"/>
            <a:ext cx="2724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or basic options only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40680" y="2331720"/>
            <a:ext cx="32918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2331720"/>
            <a:ext cx="54864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68696" y="2331720"/>
            <a:ext cx="3127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Granular: milk type, toppings, size, sugar level slider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843784"/>
            <a:ext cx="228600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843784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System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06040" y="2843784"/>
            <a:ext cx="283464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2843784"/>
            <a:ext cx="2724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paid memberships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40680" y="2843784"/>
            <a:ext cx="329184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0680" y="2843784"/>
            <a:ext cx="54864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68696" y="2843784"/>
            <a:ext cx="3127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Bronze / Silver / Gold tiers via bean accumulation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355848"/>
            <a:ext cx="22860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355848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06040" y="3355848"/>
            <a:ext cx="28346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3355848"/>
            <a:ext cx="2724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Proprietary, tied infrastructure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40680" y="3355848"/>
            <a:ext cx="32918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40680" y="3355848"/>
            <a:ext cx="54864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68696" y="3355848"/>
            <a:ext cx="3127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Neon.tech + Cloudinary — modern serverless stack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867912"/>
            <a:ext cx="228600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867912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06040" y="3867912"/>
            <a:ext cx="283464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97480" y="3867912"/>
            <a:ext cx="2724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platform-specific (iOS or Android)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40680" y="3867912"/>
            <a:ext cx="3291840" cy="493776"/>
          </a:xfrm>
          <a:prstGeom prst="rect">
            <a:avLst/>
          </a:prstGeom>
          <a:solidFill>
            <a:srgbClr val="F8F4F0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40680" y="3867912"/>
            <a:ext cx="54864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68696" y="3867912"/>
            <a:ext cx="3127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Flutter: single codebase for Android, iOS, Web, Desktop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4379976"/>
            <a:ext cx="22860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379976"/>
            <a:ext cx="21762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606040" y="4379976"/>
            <a:ext cx="28346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97480" y="4379976"/>
            <a:ext cx="2724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external tools required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40680" y="4379976"/>
            <a:ext cx="32918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4BFB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40680" y="4379976"/>
            <a:ext cx="54864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68696" y="4379976"/>
            <a:ext cx="3127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Django Jazzmin admin with custom branding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SUSTAINABILITY &amp; SOCIETAL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371600"/>
            <a:ext cx="393192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menus eliminate paper waste from printed menus and receipts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813560"/>
            <a:ext cx="393192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ordering reduces unnecessary commutes and carbon emissions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255520"/>
            <a:ext cx="393192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deployment maximizes shared server resource utilization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601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1371600"/>
            <a:ext cx="393192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gap between local coffee businesses and digital consumers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4608" y="1813560"/>
            <a:ext cx="393192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template empowers small/medium coffee shops to go digital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64608" y="2255520"/>
            <a:ext cx="393192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queue times; improves customer satisfaction and convenience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4114800" cy="347472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3464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Principles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" y="3246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Privacy: PINs stored as PBKDF2 salted hashes — never in plaintext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35570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Fully open-source on GitHub for community inspection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" y="38679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Use: All technologies are open-source and freely available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41788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Dark Patterns: Pricing breakdown is fully transparent to users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" y="44897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settings are opt-in; promo notifications off by default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8346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FB3"/>
            </a:solidFill>
            <a:prstDash val="solid"/>
          </a:ln>
          <a:effectLst>
            <a:outerShdw blurRad="76200" dist="25400" dir="8100000" algn="bl" rotWithShape="0">
              <a:srgbClr val="6B3A2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834640"/>
            <a:ext cx="4114800" cy="347472"/>
          </a:xfrm>
          <a:prstGeom prst="rect">
            <a:avLst/>
          </a:prstGeom>
          <a:solidFill>
            <a:srgbClr val="8B5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3464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Plan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3246120"/>
            <a:ext cx="3931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Actively maintained frameworks (Flutter, Django) ensure long-term compatibility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3634740"/>
            <a:ext cx="3931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Cloud PaaS on Render + serverless DB eliminates hardware maintenance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4023360"/>
            <a:ext cx="3931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Entire stack operates within free tiers; scaling costs incremental and predictable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608" y="4411980"/>
            <a:ext cx="3931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Community: Open-source allows external contributions, security patching, and feature growth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53128"/>
            <a:ext cx="9144000" cy="73152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Brew successfully demonstrates the design, development, and cloud deployment of a production-grade full-stack mobile application — encompassing a Flutter mobile frontend with 15+ screens and a Django REST Framework backend with 7 modular apps and 22+ API endpoints.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8321040" cy="0"/>
          </a:xfrm>
          <a:prstGeom prst="line">
            <a:avLst/>
          </a:prstGeom>
          <a:noFill/>
          <a:ln w="12700">
            <a:solidFill>
              <a:srgbClr val="D4BF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93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40864"/>
            <a:ext cx="4114800" cy="566928"/>
          </a:xfrm>
          <a:prstGeom prst="rect">
            <a:avLst/>
          </a:prstGeom>
          <a:solidFill>
            <a:srgbClr val="F8F4F0"/>
          </a:solidFill>
          <a:ln w="10160">
            <a:solidFill>
              <a:srgbClr val="D4BF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40864"/>
            <a:ext cx="64008" cy="56692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39572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" y="261518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+ 4-digit PIN with PBKDF2 hashing and token-based sessions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340864"/>
            <a:ext cx="4114800" cy="566928"/>
          </a:xfrm>
          <a:prstGeom prst="rect">
            <a:avLst/>
          </a:prstGeom>
          <a:solidFill>
            <a:srgbClr val="F8F4F0"/>
          </a:solidFill>
          <a:ln w="10160">
            <a:solidFill>
              <a:srgbClr val="D4BF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340864"/>
            <a:ext cx="64008" cy="56692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39572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Customization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9472" y="261518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toppings, size, and sugar level with real-time price calculation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980944"/>
            <a:ext cx="4114800" cy="566928"/>
          </a:xfrm>
          <a:prstGeom prst="rect">
            <a:avLst/>
          </a:prstGeom>
          <a:solidFill>
            <a:srgbClr val="F8F4F0"/>
          </a:solidFill>
          <a:ln w="10160">
            <a:solidFill>
              <a:srgbClr val="D4BF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980944"/>
            <a:ext cx="64008" cy="56692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03580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E-Commerce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" y="32552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order placement → auto pricing (tax + fee) → beans earned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980944"/>
            <a:ext cx="4114800" cy="566928"/>
          </a:xfrm>
          <a:prstGeom prst="rect">
            <a:avLst/>
          </a:prstGeom>
          <a:solidFill>
            <a:srgbClr val="F8F4F0"/>
          </a:solidFill>
          <a:ln w="10160">
            <a:solidFill>
              <a:srgbClr val="D4BF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980944"/>
            <a:ext cx="64008" cy="56692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03580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Rewards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2552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tiers based on cumulative bean accumulation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621024"/>
            <a:ext cx="4114800" cy="566928"/>
          </a:xfrm>
          <a:prstGeom prst="rect">
            <a:avLst/>
          </a:prstGeom>
          <a:solidFill>
            <a:srgbClr val="F8F4F0"/>
          </a:solidFill>
          <a:ln w="10160">
            <a:solidFill>
              <a:srgbClr val="D4BF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621024"/>
            <a:ext cx="64008" cy="56692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67588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" y="38953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on Render with Neon.tech PostgreSQL and Cloudinary storage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621024"/>
            <a:ext cx="4114800" cy="566928"/>
          </a:xfrm>
          <a:prstGeom prst="rect">
            <a:avLst/>
          </a:prstGeom>
          <a:solidFill>
            <a:srgbClr val="F8F4F0"/>
          </a:solidFill>
          <a:ln w="10160">
            <a:solidFill>
              <a:srgbClr val="D4BFB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621024"/>
            <a:ext cx="64008" cy="566928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67588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Delivery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38953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screens + 22+ endpoints + downloadable APK via GitHub Releases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4526280"/>
            <a:ext cx="83210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CSE413: Mobile Application Design Lab  |  Daffodil International University, Dhaka  |  April 2026  |  github.com/aaporosh/Aura-Brew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53128"/>
            <a:ext cx="9144000" cy="73152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A062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55190" y="2039366"/>
            <a:ext cx="4946650" cy="761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249137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2617</Words>
  <Application>Microsoft Office PowerPoint</Application>
  <PresentationFormat>On-screen Show (16:9)</PresentationFormat>
  <Paragraphs>380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Brew: The Ultimate Coffee Experience</dc:title>
  <dc:subject>PptxGenJS Presentation</dc:subject>
  <dc:creator>Aura Brew Team</dc:creator>
  <cp:lastModifiedBy>Sumaiya Sithi</cp:lastModifiedBy>
  <cp:revision>13</cp:revision>
  <dcterms:created xsi:type="dcterms:W3CDTF">2026-04-18T14:10:54Z</dcterms:created>
  <dcterms:modified xsi:type="dcterms:W3CDTF">2026-04-19T06:33:43Z</dcterms:modified>
</cp:coreProperties>
</file>